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83" r:id="rId3"/>
    <p:sldId id="284" r:id="rId4"/>
    <p:sldId id="296" r:id="rId5"/>
    <p:sldId id="287" r:id="rId6"/>
    <p:sldId id="286" r:id="rId7"/>
    <p:sldId id="285" r:id="rId8"/>
    <p:sldId id="293" r:id="rId9"/>
    <p:sldId id="279" r:id="rId10"/>
    <p:sldId id="299" r:id="rId11"/>
    <p:sldId id="300" r:id="rId12"/>
    <p:sldId id="288" r:id="rId13"/>
    <p:sldId id="262" r:id="rId14"/>
    <p:sldId id="264" r:id="rId15"/>
    <p:sldId id="263" r:id="rId16"/>
    <p:sldId id="289" r:id="rId17"/>
    <p:sldId id="297" r:id="rId18"/>
    <p:sldId id="290" r:id="rId19"/>
    <p:sldId id="291" r:id="rId20"/>
    <p:sldId id="292" r:id="rId21"/>
    <p:sldId id="265" r:id="rId22"/>
    <p:sldId id="298" r:id="rId23"/>
    <p:sldId id="301" r:id="rId24"/>
    <p:sldId id="266" r:id="rId25"/>
    <p:sldId id="267" r:id="rId26"/>
    <p:sldId id="294" r:id="rId27"/>
    <p:sldId id="274" r:id="rId28"/>
    <p:sldId id="275" r:id="rId29"/>
    <p:sldId id="276" r:id="rId30"/>
    <p:sldId id="278" r:id="rId31"/>
    <p:sldId id="295" r:id="rId32"/>
    <p:sldId id="282" r:id="rId33"/>
  </p:sldIdLst>
  <p:sldSz cx="9144000" cy="5143500" type="screen16x9"/>
  <p:notesSz cx="6858000" cy="9144000"/>
  <p:embeddedFontLst>
    <p:embeddedFont>
      <p:font typeface="Nunito" panose="020B0604020202020204" charset="0"/>
      <p:regular r:id="rId35"/>
      <p:bold r:id="rId36"/>
      <p:italic r:id="rId37"/>
      <p:boldItalic r:id="rId38"/>
    </p:embeddedFont>
    <p:embeddedFont>
      <p:font typeface="Roboto Mon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A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4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25d8a2daa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25d8a2daa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341A439-415F-BE3D-21D9-57A82F29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25d8a2daa_1_199:notes">
            <a:extLst>
              <a:ext uri="{FF2B5EF4-FFF2-40B4-BE49-F238E27FC236}">
                <a16:creationId xmlns:a16="http://schemas.microsoft.com/office/drawing/2014/main" id="{CCC365C7-8C49-C0B2-066A-C1BB5BE84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25d8a2daa_1_199:notes">
            <a:extLst>
              <a:ext uri="{FF2B5EF4-FFF2-40B4-BE49-F238E27FC236}">
                <a16:creationId xmlns:a16="http://schemas.microsoft.com/office/drawing/2014/main" id="{3E0332C9-966B-8D56-F84F-4A8AF044D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3711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521A7BF-6581-A656-9473-F14AB307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25d8a2daa_1_199:notes">
            <a:extLst>
              <a:ext uri="{FF2B5EF4-FFF2-40B4-BE49-F238E27FC236}">
                <a16:creationId xmlns:a16="http://schemas.microsoft.com/office/drawing/2014/main" id="{8EB2EA13-0FC0-F9E9-6E1D-439A16166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25d8a2daa_1_199:notes">
            <a:extLst>
              <a:ext uri="{FF2B5EF4-FFF2-40B4-BE49-F238E27FC236}">
                <a16:creationId xmlns:a16="http://schemas.microsoft.com/office/drawing/2014/main" id="{197F352C-9CAD-B38B-1D15-A38E8B236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721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25d8a2daa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25d8a2daa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25d8a2daa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25d8a2daa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25d8a2daa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25d8a2daa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ef10b64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ef10b64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C9887235-F49F-2226-56F0-3D74960F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ef10b648_0_185:notes">
            <a:extLst>
              <a:ext uri="{FF2B5EF4-FFF2-40B4-BE49-F238E27FC236}">
                <a16:creationId xmlns:a16="http://schemas.microsoft.com/office/drawing/2014/main" id="{42C9CB0E-BDFF-F710-942F-96589D1D7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ef10b648_0_185:notes">
            <a:extLst>
              <a:ext uri="{FF2B5EF4-FFF2-40B4-BE49-F238E27FC236}">
                <a16:creationId xmlns:a16="http://schemas.microsoft.com/office/drawing/2014/main" id="{AD60967B-644A-0A8F-8284-35C178AE5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623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fef10b648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fef10b648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fef10b64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7fef10b64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ef10b648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ef10b648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5d8a2daa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25d8a2daa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3379E2FD-8DA8-442A-26DE-C23ADD80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5d8a2daa_1_103:notes">
            <a:extLst>
              <a:ext uri="{FF2B5EF4-FFF2-40B4-BE49-F238E27FC236}">
                <a16:creationId xmlns:a16="http://schemas.microsoft.com/office/drawing/2014/main" id="{621AD1EF-D4FB-C8DF-796F-5E197677D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25d8a2daa_1_103:notes">
            <a:extLst>
              <a:ext uri="{FF2B5EF4-FFF2-40B4-BE49-F238E27FC236}">
                <a16:creationId xmlns:a16="http://schemas.microsoft.com/office/drawing/2014/main" id="{E79D1708-B9EE-0504-9150-757FB6BB6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472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40BEBF6-FB48-E2E4-3286-BE4666CA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5d8a2daa_1_103:notes">
            <a:extLst>
              <a:ext uri="{FF2B5EF4-FFF2-40B4-BE49-F238E27FC236}">
                <a16:creationId xmlns:a16="http://schemas.microsoft.com/office/drawing/2014/main" id="{FC35DCE7-5671-11E4-3C0C-81ECAD08D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25d8a2daa_1_103:notes">
            <a:extLst>
              <a:ext uri="{FF2B5EF4-FFF2-40B4-BE49-F238E27FC236}">
                <a16:creationId xmlns:a16="http://schemas.microsoft.com/office/drawing/2014/main" id="{3AFAD8B6-957A-B069-F7BC-976EC1ED9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455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25d8a2daa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25d8a2daa_1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5d8a2daa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25d8a2daa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4BC8869-2B8B-F66B-FFC9-376F5D45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5d8a2daa_1_119:notes">
            <a:extLst>
              <a:ext uri="{FF2B5EF4-FFF2-40B4-BE49-F238E27FC236}">
                <a16:creationId xmlns:a16="http://schemas.microsoft.com/office/drawing/2014/main" id="{C19DBD08-0262-45DA-B53C-C89C4F35C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25d8a2daa_1_119:notes">
            <a:extLst>
              <a:ext uri="{FF2B5EF4-FFF2-40B4-BE49-F238E27FC236}">
                <a16:creationId xmlns:a16="http://schemas.microsoft.com/office/drawing/2014/main" id="{1860E598-5788-6363-E44E-6442C00B4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304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25d8a2da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25d8a2da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25d8a2da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25d8a2da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25d8a2daa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25d8a2daa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25d8a2daa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25d8a2daa_1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32E10FE7-054E-9AFC-391E-037A7702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25d8a2daa_1_199:notes">
            <a:extLst>
              <a:ext uri="{FF2B5EF4-FFF2-40B4-BE49-F238E27FC236}">
                <a16:creationId xmlns:a16="http://schemas.microsoft.com/office/drawing/2014/main" id="{505FA51C-0D49-87BB-0ED3-EA37AAB67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25d8a2daa_1_199:notes">
            <a:extLst>
              <a:ext uri="{FF2B5EF4-FFF2-40B4-BE49-F238E27FC236}">
                <a16:creationId xmlns:a16="http://schemas.microsoft.com/office/drawing/2014/main" id="{DB856037-0CF0-0544-358D-A5BE2471E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2339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25d8a2da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25d8a2daa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4375" cy="2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069750"/>
            <a:ext cx="86582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93813" y="2675550"/>
            <a:ext cx="8375400" cy="13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800" b="1" noProof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 O M P U T E R    G R A P H I C 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800" noProof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Graphics </a:t>
            </a:r>
            <a:r>
              <a:rPr lang="ru-RU" sz="3800" noProof="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pipeline</a:t>
            </a:r>
            <a:endParaRPr lang="ru-RU" sz="3800" noProof="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883C-29C2-FBE1-C1A1-A1116EFA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 err="1"/>
              <a:t>Vulkan</a:t>
            </a:r>
            <a:r>
              <a:rPr lang="ru-RU" sz="2800" b="1" noProof="0" dirty="0"/>
              <a:t> (</a:t>
            </a:r>
            <a:r>
              <a:rPr lang="ru-RU" sz="2800" b="1" noProof="0" dirty="0" err="1"/>
              <a:t>high-level</a:t>
            </a:r>
            <a:r>
              <a:rPr lang="ru-RU" sz="2800" b="1" noProof="0" dirty="0"/>
              <a:t>)</a:t>
            </a:r>
            <a:endParaRPr lang="ru-RU" noProof="0" dirty="0"/>
          </a:p>
        </p:txBody>
      </p:sp>
      <p:pic>
        <p:nvPicPr>
          <p:cNvPr id="11" name="Google Shape;146;p26">
            <a:extLst>
              <a:ext uri="{FF2B5EF4-FFF2-40B4-BE49-F238E27FC236}">
                <a16:creationId xmlns:a16="http://schemas.microsoft.com/office/drawing/2014/main" id="{A341AB24-EE0D-3B99-6728-802B9BDC6B8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170125"/>
            <a:ext cx="298185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47;p26">
            <a:extLst>
              <a:ext uri="{FF2B5EF4-FFF2-40B4-BE49-F238E27FC236}">
                <a16:creationId xmlns:a16="http://schemas.microsoft.com/office/drawing/2014/main" id="{A2A242DD-4058-AA9C-2669-C30C4C29EEF1}"/>
              </a:ext>
            </a:extLst>
          </p:cNvPr>
          <p:cNvSpPr txBox="1"/>
          <p:nvPr/>
        </p:nvSpPr>
        <p:spPr>
          <a:xfrm>
            <a:off x="1655200" y="1201000"/>
            <a:ext cx="378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ru-RU" sz="1800" noProof="0" dirty="0">
                <a:solidFill>
                  <a:schemeClr val="dk1"/>
                </a:solidFill>
              </a:rPr>
              <a:t>Ваша игра тут</a:t>
            </a:r>
          </a:p>
        </p:txBody>
      </p:sp>
      <p:sp>
        <p:nvSpPr>
          <p:cNvPr id="13" name="Google Shape;148;p26">
            <a:extLst>
              <a:ext uri="{FF2B5EF4-FFF2-40B4-BE49-F238E27FC236}">
                <a16:creationId xmlns:a16="http://schemas.microsoft.com/office/drawing/2014/main" id="{3A7DCDF9-3B41-3BFD-1A3B-038A2300A909}"/>
              </a:ext>
            </a:extLst>
          </p:cNvPr>
          <p:cNvSpPr txBox="1"/>
          <p:nvPr/>
        </p:nvSpPr>
        <p:spPr>
          <a:xfrm>
            <a:off x="1655200" y="1642650"/>
            <a:ext cx="7141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ru-RU" sz="1800" noProof="0" dirty="0">
                <a:solidFill>
                  <a:schemeClr val="dk1"/>
                </a:solidFill>
              </a:rPr>
              <a:t>[ </a:t>
            </a:r>
            <a:r>
              <a:rPr lang="ru-RU" sz="1800" b="1" noProof="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VkInstance</a:t>
            </a:r>
            <a:r>
              <a:rPr lang="ru-RU" sz="1800" noProof="0" dirty="0">
                <a:solidFill>
                  <a:schemeClr val="dk1"/>
                </a:solidFill>
              </a:rPr>
              <a:t> ] Ваш ключ к </a:t>
            </a:r>
            <a:r>
              <a:rPr lang="ru-RU" sz="1800" noProof="0" dirty="0" err="1">
                <a:solidFill>
                  <a:schemeClr val="dk1"/>
                </a:solidFill>
              </a:rPr>
              <a:t>Vulkan</a:t>
            </a:r>
            <a:r>
              <a:rPr lang="ru-RU" sz="1800" noProof="0" dirty="0">
                <a:solidFill>
                  <a:schemeClr val="dk1"/>
                </a:solidFill>
              </a:rPr>
              <a:t>, к его API</a:t>
            </a:r>
          </a:p>
        </p:txBody>
      </p:sp>
      <p:sp>
        <p:nvSpPr>
          <p:cNvPr id="14" name="Google Shape;149;p26">
            <a:extLst>
              <a:ext uri="{FF2B5EF4-FFF2-40B4-BE49-F238E27FC236}">
                <a16:creationId xmlns:a16="http://schemas.microsoft.com/office/drawing/2014/main" id="{57A79446-9D41-3AEE-49B1-C13C76BBADD5}"/>
              </a:ext>
            </a:extLst>
          </p:cNvPr>
          <p:cNvSpPr txBox="1"/>
          <p:nvPr/>
        </p:nvSpPr>
        <p:spPr>
          <a:xfrm>
            <a:off x="1690800" y="2275500"/>
            <a:ext cx="7141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ru-RU" sz="1800" noProof="0" dirty="0">
                <a:solidFill>
                  <a:schemeClr val="dk1"/>
                </a:solidFill>
              </a:rPr>
              <a:t>[ </a:t>
            </a:r>
            <a:r>
              <a:rPr lang="ru-RU" sz="1800" b="1" noProof="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VkPhysicalDevice</a:t>
            </a:r>
            <a:r>
              <a:rPr lang="ru-RU" sz="1800" noProof="0" dirty="0">
                <a:solidFill>
                  <a:schemeClr val="dk1"/>
                </a:solidFill>
              </a:rPr>
              <a:t> ] Буквально ваш GPU, с его набором фичей</a:t>
            </a:r>
          </a:p>
        </p:txBody>
      </p:sp>
      <p:sp>
        <p:nvSpPr>
          <p:cNvPr id="15" name="Google Shape;150;p26">
            <a:extLst>
              <a:ext uri="{FF2B5EF4-FFF2-40B4-BE49-F238E27FC236}">
                <a16:creationId xmlns:a16="http://schemas.microsoft.com/office/drawing/2014/main" id="{009D4DC5-A902-BB66-3430-A02696AC802B}"/>
              </a:ext>
            </a:extLst>
          </p:cNvPr>
          <p:cNvSpPr txBox="1"/>
          <p:nvPr/>
        </p:nvSpPr>
        <p:spPr>
          <a:xfrm>
            <a:off x="1655200" y="2984950"/>
            <a:ext cx="7141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ru-RU" sz="1800" noProof="0" dirty="0">
                <a:solidFill>
                  <a:schemeClr val="dk1"/>
                </a:solidFill>
              </a:rPr>
              <a:t>[ </a:t>
            </a:r>
            <a:r>
              <a:rPr lang="ru-RU" sz="1800" b="1" noProof="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VkDevice</a:t>
            </a:r>
            <a:r>
              <a:rPr lang="ru-RU" sz="1800" noProof="0" dirty="0">
                <a:solidFill>
                  <a:schemeClr val="dk1"/>
                </a:solidFill>
              </a:rPr>
              <a:t> ] Абстракция, которая позволяет что-то делать с GPU на высоком уровне API </a:t>
            </a:r>
            <a:r>
              <a:rPr lang="ru-RU" sz="1800" noProof="0" dirty="0" err="1">
                <a:solidFill>
                  <a:schemeClr val="dk1"/>
                </a:solidFill>
              </a:rPr>
              <a:t>Vulkan</a:t>
            </a:r>
            <a:r>
              <a:rPr lang="ru-RU" sz="1800" noProof="0" dirty="0">
                <a:solidFill>
                  <a:schemeClr val="dk1"/>
                </a:solidFill>
              </a:rPr>
              <a:t>, менеджер ресурсов </a:t>
            </a:r>
          </a:p>
        </p:txBody>
      </p:sp>
      <p:sp>
        <p:nvSpPr>
          <p:cNvPr id="16" name="Google Shape;151;p26">
            <a:extLst>
              <a:ext uri="{FF2B5EF4-FFF2-40B4-BE49-F238E27FC236}">
                <a16:creationId xmlns:a16="http://schemas.microsoft.com/office/drawing/2014/main" id="{1A08BA95-8829-4B47-91F1-1BE00C17EA10}"/>
              </a:ext>
            </a:extLst>
          </p:cNvPr>
          <p:cNvSpPr txBox="1"/>
          <p:nvPr/>
        </p:nvSpPr>
        <p:spPr>
          <a:xfrm>
            <a:off x="2914175" y="3816450"/>
            <a:ext cx="58365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ru-RU" sz="1800" noProof="0" dirty="0">
                <a:solidFill>
                  <a:schemeClr val="dk1"/>
                </a:solidFill>
              </a:rPr>
              <a:t>[ </a:t>
            </a:r>
            <a:r>
              <a:rPr lang="ru-RU" sz="1800" b="1" noProof="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VkCommandBuffer</a:t>
            </a:r>
            <a:r>
              <a:rPr lang="ru-RU" sz="1800" noProof="0" dirty="0">
                <a:solidFill>
                  <a:schemeClr val="dk1"/>
                </a:solidFill>
              </a:rPr>
              <a:t> ] Список/поток “инструкций”, который диктует GPU, что делать. Например, “нарисовать треугольную сетку из 4 вершин”</a:t>
            </a:r>
          </a:p>
        </p:txBody>
      </p:sp>
    </p:spTree>
    <p:extLst>
      <p:ext uri="{BB962C8B-B14F-4D97-AF65-F5344CB8AC3E}">
        <p14:creationId xmlns:p14="http://schemas.microsoft.com/office/powerpoint/2010/main" val="166407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3F6A-22E2-D44E-46C9-E2094B63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15A1-6897-7D61-EA44-7C8D6CF9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</a:t>
            </a:r>
            <a:endParaRPr lang="ru-RU" noProof="0" dirty="0"/>
          </a:p>
        </p:txBody>
      </p:sp>
      <p:pic>
        <p:nvPicPr>
          <p:cNvPr id="3" name="Google Shape;62;p14">
            <a:extLst>
              <a:ext uri="{FF2B5EF4-FFF2-40B4-BE49-F238E27FC236}">
                <a16:creationId xmlns:a16="http://schemas.microsoft.com/office/drawing/2014/main" id="{E4FE773D-CA84-C5AC-F039-6FE457FE0B4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170125"/>
            <a:ext cx="8839198" cy="3702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51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9FFD-7B09-7E92-E20E-7D52755E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EE48-CEA4-90D3-E664-D415E077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</a:t>
            </a:r>
            <a:endParaRPr lang="ru-RU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34DA3-75DD-4471-9725-597AF22B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04" y="1079351"/>
            <a:ext cx="5356992" cy="36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2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C786-8585-E89B-77DC-9B8E925E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9149-9551-3C13-5474-49D0C459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объект </a:t>
            </a:r>
            <a:r>
              <a:rPr lang="ru-RU" sz="2800" b="1" noProof="0" dirty="0" err="1"/>
              <a:t>VkPipeline</a:t>
            </a:r>
            <a:endParaRPr lang="ru-RU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53BD8-9EF6-E836-C692-44E1926D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01271"/>
            <a:ext cx="6018939" cy="16730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427C5-13ED-2AC4-00CA-6F0DDE314513}"/>
              </a:ext>
            </a:extLst>
          </p:cNvPr>
          <p:cNvSpPr txBox="1"/>
          <p:nvPr/>
        </p:nvSpPr>
        <p:spPr>
          <a:xfrm>
            <a:off x="358588" y="2940424"/>
            <a:ext cx="842682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noProof="0" dirty="0"/>
              <a:t>Все функции, которые создают объект: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берут </a:t>
            </a:r>
            <a:r>
              <a:rPr lang="ru-RU" noProof="0" dirty="0" err="1">
                <a:latin typeface="Roboto Mono" panose="020B0604020202020204" charset="0"/>
                <a:ea typeface="Roboto Mono" panose="020B0604020202020204" charset="0"/>
              </a:rPr>
              <a:t>VkDevice</a:t>
            </a:r>
            <a:r>
              <a:rPr lang="ru-RU" noProof="0" dirty="0"/>
              <a:t> в качестве первого аргумента,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noProof="0" dirty="0"/>
              <a:t>могут </a:t>
            </a:r>
            <a:r>
              <a:rPr lang="ru-RU" noProof="0" dirty="0"/>
              <a:t>брать количество создаваемых объектов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берут массив описателей или адрес на один описатель </a:t>
            </a:r>
            <a:r>
              <a:rPr lang="ru-RU" noProof="0" dirty="0" err="1">
                <a:latin typeface="Roboto Mono" panose="020B0604020202020204" charset="0"/>
                <a:ea typeface="Roboto Mono" panose="020B0604020202020204" charset="0"/>
              </a:rPr>
              <a:t>Vk</a:t>
            </a:r>
            <a:r>
              <a:rPr lang="ru-RU" b="1" noProof="0" dirty="0">
                <a:latin typeface="Roboto Mono" panose="020B0604020202020204" charset="0"/>
                <a:ea typeface="Roboto Mono" panose="020B0604020202020204" charset="0"/>
              </a:rPr>
              <a:t>*</a:t>
            </a:r>
            <a:r>
              <a:rPr lang="ru-RU" noProof="0" dirty="0">
                <a:latin typeface="Roboto Mono" panose="020B0604020202020204" charset="0"/>
                <a:ea typeface="Roboto Mono" panose="020B0604020202020204" charset="0"/>
              </a:rPr>
              <a:t>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noProof="0" dirty="0"/>
              <a:t>опционально </a:t>
            </a:r>
            <a:r>
              <a:rPr lang="ru-RU" noProof="0" dirty="0"/>
              <a:t>предпоследним объектом берут адрес на обработчик аллокаций дин. памяти </a:t>
            </a:r>
            <a:r>
              <a:rPr lang="ru-RU" noProof="0" dirty="0" err="1">
                <a:latin typeface="Roboto Mono" panose="020B0604020202020204" charset="0"/>
                <a:ea typeface="Roboto Mono" panose="020B0604020202020204" charset="0"/>
              </a:rPr>
              <a:t>VkAllocationCallbacks</a:t>
            </a:r>
            <a:r>
              <a:rPr lang="ru-RU" noProof="0" dirty="0">
                <a:latin typeface="+mj-lt"/>
                <a:ea typeface="Roboto Mono" panose="020B0604020202020204" charset="0"/>
              </a:rPr>
              <a:t>, но мы будем вписывать </a:t>
            </a:r>
            <a:r>
              <a:rPr lang="ru-RU" noProof="0" dirty="0" err="1">
                <a:latin typeface="Roboto Mono" panose="020B0604020202020204" charset="0"/>
                <a:ea typeface="Roboto Mono" panose="020B0604020202020204" charset="0"/>
              </a:rPr>
              <a:t>nullptr</a:t>
            </a:r>
            <a:r>
              <a:rPr lang="ru-RU" noProof="0" dirty="0">
                <a:latin typeface="+mj-lt"/>
                <a:ea typeface="Roboto Mono" panose="020B0604020202020204" charset="0"/>
              </a:rPr>
              <a:t> или </a:t>
            </a:r>
            <a:r>
              <a:rPr lang="ru-RU" noProof="0" dirty="0">
                <a:latin typeface="Roboto Mono" panose="020B0604020202020204" charset="0"/>
                <a:ea typeface="Roboto Mono" panose="020B0604020202020204" charset="0"/>
              </a:rPr>
              <a:t>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noProof="0" dirty="0"/>
              <a:t>последний аргумент это всегда адрес результирующего объекта или указатель на их массив</a:t>
            </a:r>
            <a:r>
              <a:rPr lang="ru-RU" noProof="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возвращают результат </a:t>
            </a:r>
            <a:r>
              <a:rPr lang="ru-RU" noProof="0" dirty="0" err="1">
                <a:latin typeface="Roboto Mono" panose="020B0604020202020204" charset="0"/>
                <a:ea typeface="Roboto Mono" panose="020B0604020202020204" charset="0"/>
              </a:rPr>
              <a:t>VkResult</a:t>
            </a:r>
            <a:r>
              <a:rPr lang="ru-RU" noProof="0" dirty="0"/>
              <a:t>, который стоит проверять на </a:t>
            </a:r>
            <a:r>
              <a:rPr lang="ru-RU" noProof="0" dirty="0">
                <a:latin typeface="Roboto Mono" panose="020B0604020202020204" charset="0"/>
                <a:ea typeface="Roboto Mono" panose="020B0604020202020204" charset="0"/>
              </a:rPr>
              <a:t>VK_SUCCESS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6936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8030-9F45-819A-72F4-B92438BD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24D0-4962-38A1-B358-2BDD1702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Vulkan</a:t>
            </a:r>
            <a:endParaRPr lang="ru-RU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CFDF8B-454C-2835-0981-7B43F1A6F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56491"/>
            <a:ext cx="5660610" cy="3863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B5BF75-97D1-3D55-EED2-B56543BEE89C}"/>
              </a:ext>
            </a:extLst>
          </p:cNvPr>
          <p:cNvSpPr txBox="1"/>
          <p:nvPr/>
        </p:nvSpPr>
        <p:spPr>
          <a:xfrm>
            <a:off x="4930590" y="984596"/>
            <a:ext cx="4009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noProof="0" dirty="0"/>
              <a:t>почти все структуры, описывающие                </a:t>
            </a:r>
            <a:r>
              <a:rPr lang="ru-RU" noProof="0" dirty="0">
                <a:sym typeface="Wingdings" panose="05000000000000000000" pitchFamily="2" charset="2"/>
              </a:rPr>
              <a:t> </a:t>
            </a:r>
            <a:r>
              <a:rPr lang="ru-RU" noProof="0" dirty="0"/>
              <a:t>создаваемый объект, требуют тега типа!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8FA53-1A93-06ED-8037-956B77864E4C}"/>
              </a:ext>
            </a:extLst>
          </p:cNvPr>
          <p:cNvSpPr txBox="1"/>
          <p:nvPr/>
        </p:nvSpPr>
        <p:spPr>
          <a:xfrm>
            <a:off x="5536875" y="1435921"/>
            <a:ext cx="35103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noProof="0" dirty="0">
                <a:sym typeface="Wingdings" panose="05000000000000000000" pitchFamily="2" charset="2"/>
              </a:rPr>
              <a:t> такие поля нужны, чтобы расширить функциональность (описание) используя цепочку из структур (односвязный список)</a:t>
            </a:r>
            <a:endParaRPr lang="ru-RU" sz="1100" noProof="0" dirty="0"/>
          </a:p>
        </p:txBody>
      </p:sp>
    </p:spTree>
    <p:extLst>
      <p:ext uri="{BB962C8B-B14F-4D97-AF65-F5344CB8AC3E}">
        <p14:creationId xmlns:p14="http://schemas.microsoft.com/office/powerpoint/2010/main" val="31140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B598-FC7C-73BA-CD09-6F9F169F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5ED0-659E-0A46-B23C-00ECE58A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Vertex</a:t>
            </a:r>
            <a:r>
              <a:rPr lang="ru-RU" sz="2800" b="1" noProof="0" dirty="0"/>
              <a:t> &amp; </a:t>
            </a:r>
            <a:r>
              <a:rPr lang="ru-RU" sz="2800" b="1" noProof="0" dirty="0" err="1"/>
              <a:t>fragment</a:t>
            </a:r>
            <a:r>
              <a:rPr lang="ru-RU" sz="2800" b="1" noProof="0" dirty="0"/>
              <a:t> </a:t>
            </a:r>
            <a:r>
              <a:rPr lang="ru-RU" sz="2800" b="1" noProof="0" dirty="0" err="1"/>
              <a:t>shader</a:t>
            </a:r>
            <a:endParaRPr lang="ru-RU" noProof="0" dirty="0"/>
          </a:p>
        </p:txBody>
      </p:sp>
      <p:pic>
        <p:nvPicPr>
          <p:cNvPr id="4" name="Google Shape;92;p18">
            <a:extLst>
              <a:ext uri="{FF2B5EF4-FFF2-40B4-BE49-F238E27FC236}">
                <a16:creationId xmlns:a16="http://schemas.microsoft.com/office/drawing/2014/main" id="{FA2905F3-EDB3-FBFB-832C-874F91F71B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803" r="28006"/>
          <a:stretch/>
        </p:blipFill>
        <p:spPr>
          <a:xfrm>
            <a:off x="6082500" y="2726550"/>
            <a:ext cx="2678124" cy="223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23E95EF5-14C6-7A3C-4127-C36FA7120C11}"/>
              </a:ext>
            </a:extLst>
          </p:cNvPr>
          <p:cNvSpPr/>
          <p:nvPr/>
        </p:nvSpPr>
        <p:spPr>
          <a:xfrm>
            <a:off x="6052800" y="2767225"/>
            <a:ext cx="705900" cy="15711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/>
          </a:p>
        </p:txBody>
      </p:sp>
      <p:sp>
        <p:nvSpPr>
          <p:cNvPr id="6" name="Google Shape;94;p18">
            <a:extLst>
              <a:ext uri="{FF2B5EF4-FFF2-40B4-BE49-F238E27FC236}">
                <a16:creationId xmlns:a16="http://schemas.microsoft.com/office/drawing/2014/main" id="{F3874EE3-0820-E50A-E0C6-56ABC62D9C67}"/>
              </a:ext>
            </a:extLst>
          </p:cNvPr>
          <p:cNvSpPr/>
          <p:nvPr/>
        </p:nvSpPr>
        <p:spPr>
          <a:xfrm>
            <a:off x="6752025" y="3435275"/>
            <a:ext cx="2080200" cy="15456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/>
          </a:p>
        </p:txBody>
      </p:sp>
      <p:sp>
        <p:nvSpPr>
          <p:cNvPr id="7" name="Google Shape;95;p18">
            <a:extLst>
              <a:ext uri="{FF2B5EF4-FFF2-40B4-BE49-F238E27FC236}">
                <a16:creationId xmlns:a16="http://schemas.microsoft.com/office/drawing/2014/main" id="{EAF7B509-5390-FCB8-C9DD-FDEF89213686}"/>
              </a:ext>
            </a:extLst>
          </p:cNvPr>
          <p:cNvSpPr/>
          <p:nvPr/>
        </p:nvSpPr>
        <p:spPr>
          <a:xfrm>
            <a:off x="7993925" y="2767225"/>
            <a:ext cx="705900" cy="6681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/>
          </a:p>
        </p:txBody>
      </p:sp>
      <p:sp>
        <p:nvSpPr>
          <p:cNvPr id="8" name="Google Shape;91;p18">
            <a:extLst>
              <a:ext uri="{FF2B5EF4-FFF2-40B4-BE49-F238E27FC236}">
                <a16:creationId xmlns:a16="http://schemas.microsoft.com/office/drawing/2014/main" id="{DDA646DA-C7E2-0B70-11A4-5914A382CD43}"/>
              </a:ext>
            </a:extLst>
          </p:cNvPr>
          <p:cNvSpPr txBox="1"/>
          <p:nvPr/>
        </p:nvSpPr>
        <p:spPr>
          <a:xfrm>
            <a:off x="286200" y="1174375"/>
            <a:ext cx="73701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VkShaderModule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vk_vertex_shader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VkShaderModule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vk_fragment_shader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VkPipelineShaderStageCreateInfo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stage_infos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stage_infos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VkPipelineShaderStageCreateInfo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VK_STRUCTURE_TYPE_PIPELINE_SHADER_STAGE_CREATE_INFO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VK_SHADER_STAGE_</a:t>
            </a:r>
            <a:r>
              <a:rPr lang="ru-RU" sz="1000" b="1" noProof="0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VERTEX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_BIT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module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vk_vertex_shader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pName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-RU" sz="1000" noProof="0" dirty="0" err="1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ru-RU" sz="1000" noProof="0" dirty="0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stage_infos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VkPipelineShaderStageCreateInfo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VK_STRUCTURE_TYPE_PIPELINE_SHADER_STAGE_CREATE_INFO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VK_SHADER_STAGE_</a:t>
            </a:r>
            <a:r>
              <a:rPr lang="ru-RU" sz="1000" b="1" noProof="0" dirty="0">
                <a:solidFill>
                  <a:srgbClr val="F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FRAGMENT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_BIT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module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vk_fragment_shader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pName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-RU" sz="1000" noProof="0" dirty="0" err="1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ru-RU" sz="1000" noProof="0" dirty="0">
                <a:solidFill>
                  <a:srgbClr val="808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8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47790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D422-7170-37AD-CCC4-102F277A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11D9-AECD-453D-1F71-A3466066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Vertex</a:t>
            </a:r>
            <a:r>
              <a:rPr lang="ru-RU" sz="2800" b="1" noProof="0" dirty="0"/>
              <a:t> &amp; </a:t>
            </a:r>
            <a:r>
              <a:rPr lang="ru-RU" sz="2800" b="1" noProof="0" dirty="0" err="1"/>
              <a:t>fragment</a:t>
            </a:r>
            <a:r>
              <a:rPr lang="ru-RU" sz="2800" b="1" noProof="0" dirty="0"/>
              <a:t> </a:t>
            </a:r>
            <a:r>
              <a:rPr lang="ru-RU" sz="2800" b="1" noProof="0" dirty="0" err="1"/>
              <a:t>shader</a:t>
            </a:r>
            <a:endParaRPr lang="ru-RU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9C077A-7B79-1C1C-5B24-0C120401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" y="1101972"/>
            <a:ext cx="5071138" cy="385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4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95925"/>
            <a:ext cx="8839202" cy="11492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5CB0A4-527E-B8D4-F66D-F4DFBEC1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Шейдеры</a:t>
            </a:r>
            <a:r>
              <a:rPr lang="en-US" sz="2800" b="1" noProof="0" dirty="0"/>
              <a:t>: </a:t>
            </a:r>
            <a:r>
              <a:rPr lang="ru-RU" sz="2800" b="1" noProof="0" dirty="0"/>
              <a:t>процесс компиляции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13E7E7D-E485-B185-C2B5-88783CB1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AE64BFF-A63E-642C-05AC-DF6A01D1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Вершинный шейдер</a:t>
            </a:r>
            <a:r>
              <a:rPr lang="en-US" sz="2800" b="1" noProof="0" dirty="0"/>
              <a:t>: </a:t>
            </a:r>
            <a:r>
              <a:rPr lang="ru-RU" b="1" dirty="0"/>
              <a:t>прога для каждой вершины</a:t>
            </a:r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50639C-D552-C23F-5DB4-6D3EF7341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55" y="1140836"/>
            <a:ext cx="7401958" cy="37152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F68F28-E548-4E76-D00F-A788CCF9305D}"/>
              </a:ext>
            </a:extLst>
          </p:cNvPr>
          <p:cNvSpPr txBox="1"/>
          <p:nvPr/>
        </p:nvSpPr>
        <p:spPr>
          <a:xfrm>
            <a:off x="883920" y="4404442"/>
            <a:ext cx="7797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4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В эту глобальную переменную нужно записать значение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4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позиции точки в однородных координатах</a:t>
            </a:r>
            <a:r>
              <a:rPr lang="en-US" sz="14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lang="ru-RU" sz="14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998172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21DDDC8-3E80-A15A-ECFD-E49F2E74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EF629C3-2FCC-0BB3-AE57-1441A5D6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Фрагментный шейдер</a:t>
            </a:r>
            <a:r>
              <a:rPr lang="en-US" b="1" dirty="0"/>
              <a:t>: </a:t>
            </a:r>
            <a:r>
              <a:rPr lang="ru-RU" b="1" dirty="0"/>
              <a:t>прога для каждого пикселя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88BB85-EE02-A045-3FC3-38042A2BB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25347"/>
            <a:ext cx="5649113" cy="2476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78FEE-2413-EC4D-DC7B-B1D2BB7A2116}"/>
              </a:ext>
            </a:extLst>
          </p:cNvPr>
          <p:cNvSpPr txBox="1"/>
          <p:nvPr/>
        </p:nvSpPr>
        <p:spPr>
          <a:xfrm>
            <a:off x="311699" y="1523868"/>
            <a:ext cx="8520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2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Объявляем выходное </a:t>
            </a:r>
            <a:r>
              <a:rPr lang="en-US" sz="12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(out) </a:t>
            </a:r>
            <a:r>
              <a:rPr lang="ru-RU" sz="12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значение цвета пикселя первого изображения </a:t>
            </a:r>
            <a:r>
              <a:rPr lang="en-US" sz="12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(location = 0)</a:t>
            </a:r>
            <a:endParaRPr lang="ru-RU" sz="12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CE7CF-6404-5BB7-03FD-CF823BCA61D7}"/>
              </a:ext>
            </a:extLst>
          </p:cNvPr>
          <p:cNvSpPr txBox="1"/>
          <p:nvPr/>
        </p:nvSpPr>
        <p:spPr>
          <a:xfrm>
            <a:off x="535817" y="3139308"/>
            <a:ext cx="8520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Оперируем </a:t>
            </a:r>
            <a:r>
              <a:rPr lang="en-US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RGBA </a:t>
            </a:r>
            <a:r>
              <a:rPr lang="ru-RU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цветом, как вектор из четырёх </a:t>
            </a:r>
            <a:r>
              <a:rPr lang="en-US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float, </a:t>
            </a:r>
            <a:r>
              <a:rPr lang="ru-RU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т.е. </a:t>
            </a:r>
            <a:r>
              <a:rPr lang="en-US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vec4</a:t>
            </a:r>
            <a:endParaRPr lang="ru-RU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97229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16A1-C335-2BA4-6604-94DC6A1D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108D-C533-16BB-B0C9-445F5151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en-US" sz="2800" b="1" noProof="0" dirty="0"/>
              <a:t>Input assembler</a:t>
            </a:r>
            <a:endParaRPr lang="ru-RU" noProof="0" dirty="0"/>
          </a:p>
        </p:txBody>
      </p:sp>
      <p:sp>
        <p:nvSpPr>
          <p:cNvPr id="8" name="Google Shape;91;p18">
            <a:extLst>
              <a:ext uri="{FF2B5EF4-FFF2-40B4-BE49-F238E27FC236}">
                <a16:creationId xmlns:a16="http://schemas.microsoft.com/office/drawing/2014/main" id="{63B074AA-EE7F-BBAD-04EB-6905A91769D0}"/>
              </a:ext>
            </a:extLst>
          </p:cNvPr>
          <p:cNvSpPr txBox="1"/>
          <p:nvPr/>
        </p:nvSpPr>
        <p:spPr>
          <a:xfrm>
            <a:off x="286199" y="1174375"/>
            <a:ext cx="767804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VkPipelineVertexInputStateCreateInfo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input_state_info</a:t>
            </a:r>
            <a:r>
              <a:rPr lang="ru-RU" sz="1200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VK_STRUCTURE_TYPE_PIPELINE_VERTEX_INPUT_STATE_CREATE_INFO</a:t>
            </a:r>
            <a:r>
              <a:rPr lang="ru-RU" sz="1200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" name="Google Shape;83;p17">
            <a:extLst>
              <a:ext uri="{FF2B5EF4-FFF2-40B4-BE49-F238E27FC236}">
                <a16:creationId xmlns:a16="http://schemas.microsoft.com/office/drawing/2014/main" id="{EE26462C-8960-79CC-C08F-DCEB2C3BF9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65623" b="69041"/>
          <a:stretch/>
        </p:blipFill>
        <p:spPr>
          <a:xfrm>
            <a:off x="5793625" y="3633787"/>
            <a:ext cx="3038675" cy="11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EA7849-EF33-1AE7-4B3E-9085C7EE28FB}"/>
              </a:ext>
            </a:extLst>
          </p:cNvPr>
          <p:cNvSpPr txBox="1"/>
          <p:nvPr/>
        </p:nvSpPr>
        <p:spPr>
          <a:xfrm>
            <a:off x="311699" y="1932790"/>
            <a:ext cx="84521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noProof="0" dirty="0"/>
              <a:t>Он нужен для генерации вершин</a:t>
            </a:r>
            <a:r>
              <a:rPr lang="en-US" noProof="0" dirty="0"/>
              <a:t>: </a:t>
            </a:r>
            <a:r>
              <a:rPr lang="ru-RU" noProof="0" dirty="0"/>
              <a:t>из каких массивов данных (вершинных буферов) брать какие отрезки байтов, чтобы сформировать структуру вершины для вершинного шейдера (</a:t>
            </a:r>
            <a:r>
              <a:rPr lang="en-US" noProof="0" dirty="0"/>
              <a:t>vertex shader)</a:t>
            </a:r>
            <a:r>
              <a:rPr lang="ru-RU" noProof="0" dirty="0"/>
              <a:t>.</a:t>
            </a:r>
            <a:endParaRPr lang="en-US" noProof="0" dirty="0"/>
          </a:p>
          <a:p>
            <a:br>
              <a:rPr lang="ru-RU" noProof="0" dirty="0"/>
            </a:br>
            <a:br>
              <a:rPr lang="ru-RU" noProof="0" dirty="0"/>
            </a:br>
            <a:r>
              <a:rPr lang="ru-RU" noProof="0" dirty="0"/>
              <a:t>Мы заполним его позже, </a:t>
            </a:r>
            <a:r>
              <a:rPr lang="ru-RU" dirty="0"/>
              <a:t>когда будем говорить про загрузку внешних ресурсов.</a:t>
            </a:r>
          </a:p>
          <a:p>
            <a:r>
              <a:rPr lang="ru-RU" dirty="0"/>
              <a:t>П</a:t>
            </a:r>
            <a:r>
              <a:rPr lang="ru-RU" noProof="0" dirty="0"/>
              <a:t>ока оставляем его “пустым”, т.е. заполняем только тэг структуры.</a:t>
            </a:r>
            <a:br>
              <a:rPr lang="ru-RU" noProof="0" dirty="0"/>
            </a:br>
            <a:r>
              <a:rPr lang="ru-RU" noProof="0" dirty="0"/>
              <a:t>Поставить </a:t>
            </a:r>
            <a:r>
              <a:rPr lang="en-US" noProof="0" dirty="0" err="1"/>
              <a:t>nullptr</a:t>
            </a:r>
            <a:r>
              <a:rPr lang="en-US" noProof="0" dirty="0"/>
              <a:t> </a:t>
            </a:r>
            <a:r>
              <a:rPr lang="ru-RU" noProof="0" dirty="0"/>
              <a:t>в </a:t>
            </a:r>
            <a:r>
              <a:rPr lang="en-US" noProof="0" dirty="0" err="1"/>
              <a:t>pVertexInputState</a:t>
            </a:r>
            <a:r>
              <a:rPr lang="en-US" noProof="0" dirty="0"/>
              <a:t> </a:t>
            </a:r>
            <a:r>
              <a:rPr lang="ru-RU" noProof="0" dirty="0"/>
              <a:t>внутри </a:t>
            </a:r>
            <a:r>
              <a:rPr lang="en-US" noProof="0" dirty="0" err="1"/>
              <a:t>VkCreateGraphicsPipelineInfo</a:t>
            </a:r>
            <a:r>
              <a:rPr lang="en-US" noProof="0" dirty="0"/>
              <a:t> </a:t>
            </a:r>
            <a:r>
              <a:rPr lang="ru-RU" noProof="0" dirty="0"/>
              <a:t>нельзя, это обязательное поле.</a:t>
            </a:r>
            <a:endParaRPr lang="en-US" noProof="0" dirty="0"/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9197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286200" y="1174375"/>
            <a:ext cx="7370100" cy="10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VkPipelineInputAssemblyStateCreateInfo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assembly_state_info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VK_STRUCTURE_TYPE_PIPELINE_INPUT_ASSEMBLY_STATE_CREATE_INFO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topology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VK_PRIMITIVE_TOPOLOGY_TRIANGLE_LIST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5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567" y="2023273"/>
            <a:ext cx="4061875" cy="29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FE4BF79-1719-B2BB-0AD9-047EFFD8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Primitive</a:t>
            </a:r>
            <a:r>
              <a:rPr lang="ru-RU" sz="2800" b="1" noProof="0" dirty="0"/>
              <a:t> </a:t>
            </a:r>
            <a:r>
              <a:rPr lang="ru-RU" sz="2800" b="1" noProof="0" dirty="0" err="1"/>
              <a:t>assembler</a:t>
            </a:r>
            <a:endParaRPr lang="ru-RU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3C306-A2D2-3CC0-CD12-CBDC1C0E61E0}"/>
              </a:ext>
            </a:extLst>
          </p:cNvPr>
          <p:cNvSpPr txBox="1"/>
          <p:nvPr/>
        </p:nvSpPr>
        <p:spPr>
          <a:xfrm>
            <a:off x="311700" y="2146907"/>
            <a:ext cx="43929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noProof="0" dirty="0"/>
              <a:t>Эта стадия нужна, чтобы определить, какие примитивы будет рисовать конвейер.</a:t>
            </a:r>
            <a:br>
              <a:rPr lang="ru-RU" noProof="0" dirty="0"/>
            </a:br>
            <a:br>
              <a:rPr lang="ru-RU" noProof="0" dirty="0"/>
            </a:br>
            <a:r>
              <a:rPr lang="ru-RU" dirty="0"/>
              <a:t>Это может быть одно из вариантов справа.</a:t>
            </a:r>
          </a:p>
          <a:p>
            <a:endParaRPr lang="ru-RU" noProof="0" dirty="0"/>
          </a:p>
          <a:p>
            <a:r>
              <a:rPr lang="ru-RU" dirty="0"/>
              <a:t>Мы будем рисовать треугольники, поэтому указываем</a:t>
            </a:r>
            <a:r>
              <a:rPr lang="en-US" dirty="0"/>
              <a:t> </a:t>
            </a:r>
            <a:r>
              <a:rPr lang="en-US" dirty="0">
                <a:latin typeface="Roboto Mono" panose="020B0604020202020204" charset="0"/>
                <a:ea typeface="Roboto Mono" panose="020B0604020202020204" charset="0"/>
              </a:rPr>
              <a:t>VK_PRIMITIVE_TOPOLOGY_TRIANGLE_LIST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31">
            <a:extLst>
              <a:ext uri="{FF2B5EF4-FFF2-40B4-BE49-F238E27FC236}">
                <a16:creationId xmlns:a16="http://schemas.microsoft.com/office/drawing/2014/main" id="{EE3D615E-23CF-0D39-C45B-1881F2F37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noProof="0" dirty="0"/>
              <a:t>Графический конвейер: </a:t>
            </a:r>
            <a:r>
              <a:rPr lang="en-US" b="1" noProof="0" dirty="0"/>
              <a:t>viewport</a:t>
            </a:r>
            <a:r>
              <a:rPr lang="en-US" b="1" dirty="0"/>
              <a:t> </a:t>
            </a:r>
            <a:r>
              <a:rPr lang="ru-RU" b="1" dirty="0"/>
              <a:t>и </a:t>
            </a:r>
            <a:r>
              <a:rPr lang="en-US" b="1" noProof="0" dirty="0"/>
              <a:t>scissor</a:t>
            </a:r>
            <a:endParaRPr lang="ru-RU" b="1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95855-6ED1-F898-77BA-5189FE3C5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91" y="1267138"/>
            <a:ext cx="4622997" cy="3512844"/>
          </a:xfrm>
          <a:prstGeom prst="rect">
            <a:avLst/>
          </a:prstGeom>
        </p:spPr>
      </p:pic>
      <p:sp>
        <p:nvSpPr>
          <p:cNvPr id="114" name="Google Shape;114;p21"/>
          <p:cNvSpPr txBox="1"/>
          <p:nvPr/>
        </p:nvSpPr>
        <p:spPr>
          <a:xfrm>
            <a:off x="286200" y="1174375"/>
            <a:ext cx="7370100" cy="10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VkPipelineViewportStateCreateInfo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viewport_info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VK_STRUCTURE_TYPE_PIPELINE_VIEWPORT_STATE_CREATE_INFO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viewportCount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scissorCount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8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D67EE-1816-8D27-A414-787465010B34}"/>
              </a:ext>
            </a:extLst>
          </p:cNvPr>
          <p:cNvSpPr txBox="1"/>
          <p:nvPr/>
        </p:nvSpPr>
        <p:spPr>
          <a:xfrm>
            <a:off x="311700" y="2115619"/>
            <a:ext cx="400211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noProof="0" dirty="0"/>
              <a:t>Эти данные нужны для определения областей, на которые нужно рисовать</a:t>
            </a:r>
            <a:r>
              <a:rPr lang="en-US" sz="1200" dirty="0"/>
              <a:t> (viewport) </a:t>
            </a:r>
            <a:r>
              <a:rPr lang="ru-RU" sz="1200" dirty="0"/>
              <a:t>и которые нужно оставить </a:t>
            </a:r>
            <a:r>
              <a:rPr lang="en-US" sz="1200" dirty="0"/>
              <a:t>(scissor).</a:t>
            </a:r>
            <a:endParaRPr lang="ru-RU" sz="1200" dirty="0"/>
          </a:p>
          <a:p>
            <a:endParaRPr lang="ru-RU" sz="1200" dirty="0"/>
          </a:p>
          <a:p>
            <a:r>
              <a:rPr lang="en-US" sz="1200" dirty="0"/>
              <a:t>Scissor </a:t>
            </a:r>
            <a:r>
              <a:rPr lang="ru-RU" sz="1200" dirty="0"/>
              <a:t>это буквально </a:t>
            </a:r>
            <a:r>
              <a:rPr lang="en-US" sz="1200" dirty="0"/>
              <a:t>“</a:t>
            </a:r>
            <a:r>
              <a:rPr lang="ru-RU" sz="1200" dirty="0"/>
              <a:t>отрезать</a:t>
            </a:r>
            <a:r>
              <a:rPr lang="en-US" sz="1200" dirty="0"/>
              <a:t>”</a:t>
            </a:r>
            <a:r>
              <a:rPr lang="ru-RU" sz="1200" dirty="0"/>
              <a:t>, поэтому только отрезаемые области от области отрисовки останутся после рисования.</a:t>
            </a:r>
            <a:endParaRPr lang="en-US" sz="1200" dirty="0"/>
          </a:p>
          <a:p>
            <a:endParaRPr lang="en-US" sz="1200" dirty="0">
              <a:latin typeface="Roboto Mono" panose="020B0604020202020204" charset="0"/>
              <a:ea typeface="Roboto Mono" panose="020B0604020202020204" charset="0"/>
            </a:endParaRPr>
          </a:p>
          <a:p>
            <a:r>
              <a:rPr lang="ru-RU" sz="1200" dirty="0">
                <a:latin typeface="+mj-lt"/>
                <a:ea typeface="Roboto Mono" panose="020B0604020202020204" charset="0"/>
              </a:rPr>
              <a:t>Тут нужно указать количество таких областей</a:t>
            </a:r>
            <a:r>
              <a:rPr lang="en-US" sz="1200" dirty="0">
                <a:latin typeface="+mj-lt"/>
                <a:ea typeface="Roboto Mono" panose="020B0604020202020204" charset="0"/>
              </a:rPr>
              <a:t> (</a:t>
            </a:r>
            <a:r>
              <a:rPr lang="ru-RU" sz="1200" dirty="0">
                <a:latin typeface="+mj-lt"/>
                <a:ea typeface="Roboto Mono" panose="020B0604020202020204" charset="0"/>
              </a:rPr>
              <a:t>должно быть </a:t>
            </a:r>
            <a:r>
              <a:rPr lang="en-US" sz="1200" dirty="0">
                <a:latin typeface="+mj-lt"/>
                <a:ea typeface="Roboto Mono" panose="020B0604020202020204" charset="0"/>
              </a:rPr>
              <a:t>&gt;0). </a:t>
            </a:r>
            <a:r>
              <a:rPr lang="ru-RU" sz="1200" dirty="0">
                <a:latin typeface="+mj-lt"/>
                <a:ea typeface="Roboto Mono" panose="020B0604020202020204" charset="0"/>
              </a:rPr>
              <a:t>В нашем случае обе области будут равны размеру окна и будут заданы при записи команд </a:t>
            </a:r>
            <a:r>
              <a:rPr lang="en-US" sz="1200" dirty="0">
                <a:latin typeface="+mj-lt"/>
                <a:ea typeface="Roboto Mono" panose="020B0604020202020204" charset="0"/>
              </a:rPr>
              <a:t>GPU.</a:t>
            </a:r>
            <a:endParaRPr lang="ru-RU" sz="1200" dirty="0">
              <a:latin typeface="+mj-lt"/>
              <a:ea typeface="Roboto Mono" panose="020B0604020202020204" charset="0"/>
            </a:endParaRPr>
          </a:p>
          <a:p>
            <a:endParaRPr lang="en-US" sz="1200" dirty="0">
              <a:latin typeface="+mj-lt"/>
              <a:ea typeface="Roboto Mono" panose="020B0604020202020204" charset="0"/>
            </a:endParaRPr>
          </a:p>
          <a:p>
            <a:r>
              <a:rPr lang="ru-RU" sz="1200" dirty="0">
                <a:latin typeface="+mj-lt"/>
                <a:ea typeface="Roboto Mono" panose="020B0604020202020204" charset="0"/>
              </a:rPr>
              <a:t>Кол-во </a:t>
            </a:r>
            <a:r>
              <a:rPr lang="en-US" sz="1200" dirty="0">
                <a:latin typeface="+mj-lt"/>
                <a:ea typeface="Roboto Mono" panose="020B0604020202020204" charset="0"/>
              </a:rPr>
              <a:t>viewport = </a:t>
            </a:r>
            <a:r>
              <a:rPr lang="ru-RU" sz="1200" dirty="0">
                <a:latin typeface="+mj-lt"/>
                <a:ea typeface="Roboto Mono" panose="020B0604020202020204" charset="0"/>
              </a:rPr>
              <a:t>кол-во изображений, на которое будем рисовать (оно у нас одно).</a:t>
            </a:r>
            <a:endParaRPr lang="en-US" sz="1200" dirty="0">
              <a:latin typeface="+mj-lt"/>
              <a:ea typeface="Roboto Mono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286200" y="1174375"/>
            <a:ext cx="8857800" cy="2739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VkPipelineRasterizationStateCreateInfo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raster_info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VK_STRUCTURE_TYPE_PIPELINE_RASTERIZATION_STATE_CREATE_INFO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polygonMode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VK_POLYGON_MODE_FILL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Режим растеризации</a:t>
            </a:r>
            <a:r>
              <a:rPr lang="en-US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т</a:t>
            </a:r>
            <a:r>
              <a:rPr lang="ru-RU" sz="1200" noProof="0" dirty="0" err="1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реугольники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нужно закрасить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cullMode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VK_CULL_MODE_BACK_BIT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Убираем треугольники, которые отвернулись от нас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frontFace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VK_FRONT_FACE_CLOCKWISE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Задаем обход треугольника для вектор.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п</a:t>
            </a:r>
            <a:r>
              <a:rPr lang="ru-RU" sz="1200" noProof="0" dirty="0" err="1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роизв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lineWidth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1.0f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Толщина линии, если бы их рисовали, должна быть </a:t>
            </a:r>
            <a:r>
              <a:rPr lang="en-US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&gt;0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VkPipelineMultisampleStateCreateInfo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sample_info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VK_STRUCTURE_TYPE_PIPELINE_MULTISAMPLE_STATE_CREATE_INFO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rasterizationSamples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VK_SAMPLE_COUNT_1_BIT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b="1" dirty="0">
              <a:solidFill>
                <a:srgbClr val="00008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сколько выборок в пределах одного экранного пикселя будет закрашено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3DE9B7-60EC-2988-23F9-30F1941C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Растеризатор</a:t>
            </a:r>
            <a:endParaRPr lang="ru-RU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noProof="0" dirty="0"/>
              <a:t>Внезапно, важен порядок обхода треугольника</a:t>
            </a:r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Нам важно показывать ту сторону, которая повернута к нам, и не показывать ту, которая от нас отвернулась. </a:t>
            </a:r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t="7689"/>
          <a:stretch/>
        </p:blipFill>
        <p:spPr>
          <a:xfrm>
            <a:off x="356023" y="2477425"/>
            <a:ext cx="3901225" cy="19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4">
            <a:alphaModFix/>
          </a:blip>
          <a:srcRect l="4956" t="5912" r="3267" b="50000"/>
          <a:stretch/>
        </p:blipFill>
        <p:spPr>
          <a:xfrm>
            <a:off x="4433675" y="2571750"/>
            <a:ext cx="1980000" cy="1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4">
            <a:alphaModFix/>
          </a:blip>
          <a:srcRect l="5821" t="53086" r="4485" b="3265"/>
          <a:stretch/>
        </p:blipFill>
        <p:spPr>
          <a:xfrm>
            <a:off x="6590100" y="2510138"/>
            <a:ext cx="2110550" cy="166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99C795F0-69E2-E7D1-754A-B6DED096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>
            <a:extLst>
              <a:ext uri="{FF2B5EF4-FFF2-40B4-BE49-F238E27FC236}">
                <a16:creationId xmlns:a16="http://schemas.microsoft.com/office/drawing/2014/main" id="{4ABB7B2F-C0A8-255B-FA57-B7550A032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noProof="0" dirty="0"/>
              <a:t>Внезапно, важен порядок обхода треугольника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BAC52-005B-3B74-8556-A9AED5B3A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1" y="1830312"/>
            <a:ext cx="9051937" cy="182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18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noProof="0" dirty="0"/>
              <a:t>Внезапно, важен порядок обхода треугольника</a:t>
            </a:r>
          </a:p>
        </p:txBody>
      </p:sp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Важно договориться, какой порядок вершин соблюдается при формировании треугольников, в вашем игровом движке.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Графические API могут выкидывать, по вашему желанию, треугольники, чьи векторные произведения граней не дают тот знак, который вы задали.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Данная оптимизация реализована в GPU и называется </a:t>
            </a:r>
            <a:r>
              <a:rPr lang="ru-RU" b="1" noProof="0" dirty="0" err="1">
                <a:solidFill>
                  <a:schemeClr val="dk1"/>
                </a:solidFill>
              </a:rPr>
              <a:t>back-face</a:t>
            </a:r>
            <a:r>
              <a:rPr lang="ru-RU" b="1" noProof="0" dirty="0">
                <a:solidFill>
                  <a:schemeClr val="dk1"/>
                </a:solidFill>
              </a:rPr>
              <a:t> </a:t>
            </a:r>
            <a:r>
              <a:rPr lang="ru-RU" b="1" noProof="0" dirty="0" err="1">
                <a:solidFill>
                  <a:schemeClr val="dk1"/>
                </a:solidFill>
              </a:rPr>
              <a:t>culling</a:t>
            </a:r>
            <a:r>
              <a:rPr lang="ru-RU" noProof="0" dirty="0">
                <a:solidFill>
                  <a:schemeClr val="dk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013" y="1107225"/>
            <a:ext cx="718797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1;p31">
            <a:extLst>
              <a:ext uri="{FF2B5EF4-FFF2-40B4-BE49-F238E27FC236}">
                <a16:creationId xmlns:a16="http://schemas.microsoft.com/office/drawing/2014/main" id="{EBBD2A3B-6933-FA0D-376D-8A3B04F956C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 noProof="0" dirty="0"/>
              <a:t>Множественная выборка (</a:t>
            </a:r>
            <a:r>
              <a:rPr lang="ru-RU" sz="2800" b="1" noProof="0" dirty="0" err="1"/>
              <a:t>multi-sampling</a:t>
            </a:r>
            <a:r>
              <a:rPr lang="ru-RU" sz="2800" b="1" noProof="0" dirty="0"/>
              <a:t>)</a:t>
            </a:r>
            <a:endParaRPr lang="ru-RU" b="1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1292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36D373B-23E0-679C-B6E7-B1A93CBA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Множественная выборка (</a:t>
            </a:r>
            <a:r>
              <a:rPr lang="ru-RU" sz="2800" b="1" noProof="0" dirty="0" err="1"/>
              <a:t>multi-sampling</a:t>
            </a:r>
            <a:r>
              <a:rPr lang="ru-RU" sz="2800" b="1" noProof="0" dirty="0"/>
              <a:t>)</a:t>
            </a:r>
            <a:endParaRPr lang="ru-RU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286200" y="1174375"/>
            <a:ext cx="8492040" cy="13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VkPipelineDepthStencilStateCreateInfo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depth_info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1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VK_STRUCTURE_TYPE_PIPELINE_DEPTH_STENCIL_STATE_CREATE_INFO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1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depthTestEnable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 err="1">
                <a:solidFill>
                  <a:srgbClr val="0000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ru-RU" sz="11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1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Не игнорировать ли проверку глубины перед закрашиванием</a:t>
            </a:r>
            <a:endParaRPr lang="ru-RU" sz="11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depthWriteEnable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 err="1">
                <a:solidFill>
                  <a:srgbClr val="0000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ru-RU" sz="11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1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Можно ли записать значение глубины, если проверка пройдена</a:t>
            </a:r>
            <a:endParaRPr lang="ru-RU" sz="11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1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depthCompareOp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1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VK_COMPARE_OP_LESS</a:t>
            </a: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US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1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Оператор сравнения глубины</a:t>
            </a:r>
            <a:endParaRPr lang="ru-RU" sz="11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8588D9-B0DF-C525-F417-EBC98EA9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Depth</a:t>
            </a:r>
            <a:r>
              <a:rPr lang="ru-RU" sz="2800" b="1" noProof="0" dirty="0"/>
              <a:t>/</a:t>
            </a:r>
            <a:r>
              <a:rPr lang="ru-RU" sz="2800" b="1" noProof="0" dirty="0" err="1"/>
              <a:t>stencil</a:t>
            </a:r>
            <a:r>
              <a:rPr lang="ru-RU" sz="2800" b="1" noProof="0" dirty="0"/>
              <a:t> </a:t>
            </a:r>
            <a:r>
              <a:rPr lang="ru-RU" sz="2800" b="1" noProof="0" dirty="0" err="1"/>
              <a:t>test</a:t>
            </a:r>
            <a:endParaRPr lang="ru-RU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0FF066-6A07-ABD9-0337-226D637483E7}"/>
              </a:ext>
            </a:extLst>
          </p:cNvPr>
          <p:cNvSpPr txBox="1"/>
          <p:nvPr/>
        </p:nvSpPr>
        <p:spPr>
          <a:xfrm>
            <a:off x="311700" y="2409661"/>
            <a:ext cx="84920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  <a:ea typeface="Roboto Mono" panose="020B0604020202020204" charset="0"/>
              </a:rPr>
              <a:t>Для достижения независимости от порядка рисования полигонов, существует </a:t>
            </a:r>
            <a:r>
              <a:rPr lang="en-US" sz="1600" dirty="0">
                <a:latin typeface="+mj-lt"/>
                <a:ea typeface="Roboto Mono" panose="020B0604020202020204" charset="0"/>
              </a:rPr>
              <a:t>Z-buffering / depth-testing. </a:t>
            </a:r>
            <a:endParaRPr lang="ru-RU" sz="1600" dirty="0">
              <a:latin typeface="+mj-lt"/>
              <a:ea typeface="Roboto Mono" panose="020B0604020202020204" charset="0"/>
            </a:endParaRPr>
          </a:p>
          <a:p>
            <a:endParaRPr lang="ru-RU" sz="1600" dirty="0">
              <a:latin typeface="+mj-lt"/>
              <a:ea typeface="Roboto Mono" panose="020B0604020202020204" charset="0"/>
            </a:endParaRPr>
          </a:p>
          <a:p>
            <a:r>
              <a:rPr lang="ru-RU" sz="1600" dirty="0">
                <a:latin typeface="+mj-lt"/>
                <a:ea typeface="Roboto Mono" panose="020B0604020202020204" charset="0"/>
              </a:rPr>
              <a:t>Нам нужна информация о глубине каждого пикселя, чтобы можно было произвести проверку на меньшую глубину (</a:t>
            </a:r>
            <a:r>
              <a:rPr lang="ru-RU" sz="1600" i="1" dirty="0">
                <a:latin typeface="+mj-lt"/>
                <a:ea typeface="Roboto Mono" panose="020B0604020202020204" charset="0"/>
              </a:rPr>
              <a:t>новая глубина в текущем пикселе меньше, чем текущая глубина в этом же пикселе</a:t>
            </a:r>
            <a:r>
              <a:rPr lang="en-US" sz="1600" i="1" dirty="0">
                <a:latin typeface="+mj-lt"/>
                <a:ea typeface="Roboto Mono" panose="020B0604020202020204" charset="0"/>
              </a:rPr>
              <a:t>?</a:t>
            </a:r>
            <a:r>
              <a:rPr lang="ru-RU" sz="1600" dirty="0">
                <a:latin typeface="+mj-lt"/>
                <a:ea typeface="Roboto Mono" panose="020B0604020202020204" charset="0"/>
              </a:rPr>
              <a:t>). Эта инфа о глубине хранится в специальном изображении, которое называется </a:t>
            </a:r>
            <a:r>
              <a:rPr lang="en-US" sz="1600" dirty="0">
                <a:latin typeface="+mj-lt"/>
                <a:ea typeface="Roboto Mono" panose="020B0604020202020204" charset="0"/>
              </a:rPr>
              <a:t>depth buffer (</a:t>
            </a:r>
            <a:r>
              <a:rPr lang="ru-RU" sz="1600" dirty="0">
                <a:latin typeface="+mj-lt"/>
                <a:ea typeface="Roboto Mono" panose="020B0604020202020204" charset="0"/>
              </a:rPr>
              <a:t>буфер глубины)</a:t>
            </a:r>
            <a:r>
              <a:rPr lang="en-US" sz="1600" dirty="0">
                <a:latin typeface="+mj-lt"/>
                <a:ea typeface="Roboto Mono" panose="020B0604020202020204" charset="0"/>
              </a:rPr>
              <a:t>.</a:t>
            </a:r>
          </a:p>
          <a:p>
            <a:endParaRPr lang="en-US" sz="1600" dirty="0">
              <a:latin typeface="+mj-lt"/>
              <a:ea typeface="Roboto Mono" panose="020B0604020202020204" charset="0"/>
            </a:endParaRPr>
          </a:p>
          <a:p>
            <a:r>
              <a:rPr lang="ru-RU" sz="1600" dirty="0">
                <a:latin typeface="+mj-lt"/>
                <a:ea typeface="Roboto Mono" panose="020B0604020202020204" charset="0"/>
              </a:rPr>
              <a:t>Если проверка оказывается истиной, то новое значение глубины записывается в буфер вместо старого и пиксель закрашивается, иначе – не закрашивается.</a:t>
            </a:r>
            <a:endParaRPr lang="en-US" sz="1600" dirty="0">
              <a:latin typeface="+mj-lt"/>
              <a:ea typeface="Roboto Mono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5F12C7B-652F-10E6-409F-486D53F75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C7ADF5-05D2-1834-51EA-89405ADB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Depth</a:t>
            </a:r>
            <a:r>
              <a:rPr lang="en-US" sz="2800" b="1" noProof="0" dirty="0"/>
              <a:t> </a:t>
            </a:r>
            <a:r>
              <a:rPr lang="ru-RU" sz="2800" b="1" noProof="0" dirty="0" err="1"/>
              <a:t>test</a:t>
            </a:r>
            <a:endParaRPr lang="ru-RU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97574-1E07-D1F5-55CB-A5F25162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404" y="1249309"/>
            <a:ext cx="5633192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46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FFC1B08-4338-6EFC-9BE2-EF3FC2F6F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88B2DF-9271-8B7A-FB5E-BBD399C6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ru-RU" sz="2800" b="1" noProof="0" dirty="0" err="1"/>
              <a:t>Depth</a:t>
            </a:r>
            <a:r>
              <a:rPr lang="en-US" sz="2800" b="1" noProof="0" dirty="0"/>
              <a:t> </a:t>
            </a:r>
            <a:r>
              <a:rPr lang="ru-RU" sz="2800" b="1" noProof="0" dirty="0" err="1"/>
              <a:t>test</a:t>
            </a:r>
            <a:endParaRPr lang="ru-RU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A0FE5-565F-98EA-4770-238EFD19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29" b="11878"/>
          <a:stretch/>
        </p:blipFill>
        <p:spPr>
          <a:xfrm>
            <a:off x="874058" y="1017725"/>
            <a:ext cx="7226449" cy="383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84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286200" y="1174375"/>
            <a:ext cx="737010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VkPipelineColorBlendAttachmentState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attachment_info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colorWriteMask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VK_COLOR_COMPONENT_R_BIT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|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  VK_COLOR_COMPONENT_G_BIT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|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  VK_COLOR_COMPONENT_B_BIT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|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  VK_COLOR_COMPONENT_A_BIT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VkPipelineColorBlendStateCreateInfo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blend_info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VK_STRUCTURE_TYPE_PIPELINE_COLOR_BLEND_STATE_CREATE_INFO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attachmentCount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noProof="0" dirty="0">
                <a:solidFill>
                  <a:srgbClr val="FF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pAttachments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0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ru-RU" sz="10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attachment_info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8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625" y="2222738"/>
            <a:ext cx="24574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DC4701-6AD8-8182-85B9-CF8643DA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</a:t>
            </a:r>
            <a:r>
              <a:rPr lang="en-US" sz="2800" b="1" noProof="0" dirty="0"/>
              <a:t>Color </a:t>
            </a:r>
            <a:r>
              <a:rPr lang="en-US" b="1" dirty="0"/>
              <a:t>b</a:t>
            </a:r>
            <a:r>
              <a:rPr lang="ru-RU" sz="2800" b="1" noProof="0" dirty="0" err="1"/>
              <a:t>lending</a:t>
            </a:r>
            <a:endParaRPr lang="ru-RU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566F9-9FF1-5C8A-41A2-20F25A01A8D6}"/>
              </a:ext>
            </a:extLst>
          </p:cNvPr>
          <p:cNvSpPr txBox="1"/>
          <p:nvPr/>
        </p:nvSpPr>
        <p:spPr>
          <a:xfrm>
            <a:off x="311700" y="3193043"/>
            <a:ext cx="5784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  <a:ea typeface="Roboto Mono" panose="020B0604020202020204" charset="0"/>
              </a:rPr>
              <a:t>На этой стадии прописывается формула смешения цветов в зависимости от прозрачности. Пока она нам не нужна и формулу задавать не надо, но надо задать, что все компоненты цвета будут записаны и не маскированы.</a:t>
            </a:r>
          </a:p>
          <a:p>
            <a:endParaRPr lang="ru-RU" sz="1600" dirty="0">
              <a:latin typeface="+mj-lt"/>
              <a:ea typeface="Roboto Mono" panose="020B0604020202020204" charset="0"/>
            </a:endParaRPr>
          </a:p>
          <a:p>
            <a:r>
              <a:rPr lang="ru-RU" sz="1600" dirty="0">
                <a:latin typeface="+mj-lt"/>
                <a:ea typeface="Roboto Mono" panose="020B0604020202020204" charset="0"/>
              </a:rPr>
              <a:t>Тут надо задавать формулу для каждого рисуемого изображения (оно у нас одно).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286200" y="1174375"/>
            <a:ext cx="8546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VkDynamicState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dynamic_states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[] =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VK_DYNAMIC_STATE_VIEWPORT,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Будем задавать размер рисуемой области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VK_DYNAMIC_STATE_SCISSOR, </a:t>
            </a:r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Будем задавать размер вырезаемой области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VkPipelineDynamicStateCreateInfo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dynamic_state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=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= VK_STRUCTURE_TYPE_PIPELINE_DYNAMIC_STATE_CREATE_INFO,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dynamicStateCount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dynamic_states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 /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dynamic_states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[0]),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pDynamicStates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dynamic_states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5F2E23-6477-755C-DCC5-500F6470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динамические параметры</a:t>
            </a:r>
            <a:endParaRPr lang="ru-RU" noProof="0" dirty="0"/>
          </a:p>
        </p:txBody>
      </p:sp>
      <p:sp>
        <p:nvSpPr>
          <p:cNvPr id="2" name="Google Shape;182;p31">
            <a:extLst>
              <a:ext uri="{FF2B5EF4-FFF2-40B4-BE49-F238E27FC236}">
                <a16:creationId xmlns:a16="http://schemas.microsoft.com/office/drawing/2014/main" id="{252DB864-5B8F-4772-7109-A9B7E7A14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3205669"/>
            <a:ext cx="8520600" cy="1861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Тут задаются динамически изменяемые параметры конвейера.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Значения этих параметров задаются в процессе записи команд на исполнение</a:t>
            </a:r>
            <a:r>
              <a:rPr lang="en-US" dirty="0">
                <a:solidFill>
                  <a:schemeClr val="dk1"/>
                </a:solidFill>
              </a:rPr>
              <a:t> GPU.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Нас интересуют только размеры рисуемых и вырезаемых областей.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Размеры можно было </a:t>
            </a:r>
            <a:r>
              <a:rPr lang="ru-RU" dirty="0" err="1">
                <a:solidFill>
                  <a:schemeClr val="dk1"/>
                </a:solidFill>
              </a:rPr>
              <a:t>захардкодить</a:t>
            </a:r>
            <a:r>
              <a:rPr lang="ru-RU" dirty="0">
                <a:solidFill>
                  <a:schemeClr val="dk1"/>
                </a:solidFill>
              </a:rPr>
              <a:t> внутри </a:t>
            </a:r>
            <a:r>
              <a:rPr lang="en-US" dirty="0" err="1">
                <a:solidFill>
                  <a:schemeClr val="dk1"/>
                </a:solidFill>
              </a:rPr>
              <a:t>VkPipelineViewportState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en-US" dirty="0">
                <a:solidFill>
                  <a:schemeClr val="dk1"/>
                </a:solidFill>
              </a:rPr>
              <a:t>🤨</a:t>
            </a:r>
            <a:endParaRPr lang="ru-RU" noProof="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7170A66-ED0B-1C0C-2D69-B2703E93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>
            <a:extLst>
              <a:ext uri="{FF2B5EF4-FFF2-40B4-BE49-F238E27FC236}">
                <a16:creationId xmlns:a16="http://schemas.microsoft.com/office/drawing/2014/main" id="{7B9A8F47-6FF3-AF99-9DA5-F5AD3F6905F0}"/>
              </a:ext>
            </a:extLst>
          </p:cNvPr>
          <p:cNvSpPr txBox="1"/>
          <p:nvPr/>
        </p:nvSpPr>
        <p:spPr>
          <a:xfrm>
            <a:off x="286200" y="1174375"/>
            <a:ext cx="7370100" cy="14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VkPipelineLayoutCreateInfo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layout_info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sType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VK_STRUCTURE_TYPE_PIPELINE_LAYOUT_CREATE_INFO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vkCreatePipelineLayout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vk_device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layout_info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200" b="1" noProof="0" dirty="0" err="1">
                <a:solidFill>
                  <a:srgbClr val="0000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nullptr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-RU" sz="1200" noProof="0" dirty="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   &amp;</a:t>
            </a:r>
            <a:r>
              <a:rPr lang="ru-RU" sz="1200" noProof="0" dirty="0" err="1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vk_pipeline_layout</a:t>
            </a:r>
            <a:r>
              <a:rPr lang="ru-RU" sz="1200" b="1" noProof="0" dirty="0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 // </a:t>
            </a:r>
            <a:r>
              <a:rPr lang="ru-RU" sz="1200" b="1" noProof="0" dirty="0" err="1">
                <a:solidFill>
                  <a:srgbClr val="0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VkPipelineLayout</a:t>
            </a:r>
            <a:endParaRPr lang="ru-RU" sz="1200" b="1" noProof="0" dirty="0">
              <a:solidFill>
                <a:srgbClr val="00008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noProof="0" dirty="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81BB3-62FE-358F-702E-C35F5380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Графический конвейер: данные извне</a:t>
            </a:r>
            <a:endParaRPr lang="ru-RU" noProof="0" dirty="0"/>
          </a:p>
        </p:txBody>
      </p:sp>
      <p:sp>
        <p:nvSpPr>
          <p:cNvPr id="2" name="Google Shape;182;p31">
            <a:extLst>
              <a:ext uri="{FF2B5EF4-FFF2-40B4-BE49-F238E27FC236}">
                <a16:creationId xmlns:a16="http://schemas.microsoft.com/office/drawing/2014/main" id="{8755E8B1-E282-A5D1-EFEB-02E075381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620895"/>
            <a:ext cx="8520600" cy="2445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Объект </a:t>
            </a:r>
            <a:r>
              <a:rPr lang="en-US" dirty="0" err="1">
                <a:solidFill>
                  <a:schemeClr val="dk1"/>
                </a:solidFill>
              </a:rPr>
              <a:t>VkPipelineLayout</a:t>
            </a:r>
            <a:r>
              <a:rPr lang="ru-RU" dirty="0">
                <a:solidFill>
                  <a:schemeClr val="dk1"/>
                </a:solidFill>
              </a:rPr>
              <a:t> задаёт типы внешних ресурсов, которые будут видеть шейдеры (например вершинный и фрагментный).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Тоже оставим его пока </a:t>
            </a:r>
            <a:r>
              <a:rPr lang="en-US" dirty="0">
                <a:solidFill>
                  <a:schemeClr val="dk1"/>
                </a:solidFill>
              </a:rPr>
              <a:t>“</a:t>
            </a:r>
            <a:r>
              <a:rPr lang="ru-RU" dirty="0">
                <a:solidFill>
                  <a:schemeClr val="dk1"/>
                </a:solidFill>
              </a:rPr>
              <a:t>пустым</a:t>
            </a:r>
            <a:r>
              <a:rPr lang="en-US" dirty="0">
                <a:solidFill>
                  <a:schemeClr val="dk1"/>
                </a:solidFill>
              </a:rPr>
              <a:t>”</a:t>
            </a:r>
            <a:r>
              <a:rPr lang="ru-RU" dirty="0">
                <a:solidFill>
                  <a:schemeClr val="dk1"/>
                </a:solidFill>
              </a:rPr>
              <a:t>. Мы заполним его в уроке про внешние ресурсы.</a:t>
            </a:r>
            <a:endParaRPr lang="ru-RU" noProof="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480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812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E55AC3A-0B18-BD69-C7B9-D6BA8973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Цепочка кадров</a:t>
            </a:r>
            <a:endParaRPr lang="ru-RU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B1F41E-DC39-E44A-D823-A53CB3C8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Рендер проход</a:t>
            </a:r>
            <a:r>
              <a:rPr lang="en-US" sz="2800" b="1" noProof="0" dirty="0"/>
              <a:t>: </a:t>
            </a:r>
            <a:r>
              <a:rPr lang="ru-RU" sz="2800" b="1" noProof="0" dirty="0"/>
              <a:t>на высоком уровне</a:t>
            </a:r>
            <a:endParaRPr lang="ru-RU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4C3C2-0574-2E5F-D73F-499843BF3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17" b="4951"/>
          <a:stretch/>
        </p:blipFill>
        <p:spPr>
          <a:xfrm>
            <a:off x="0" y="1717636"/>
            <a:ext cx="9144000" cy="3338456"/>
          </a:xfrm>
          <a:prstGeom prst="rect">
            <a:avLst/>
          </a:prstGeom>
        </p:spPr>
      </p:pic>
      <p:sp>
        <p:nvSpPr>
          <p:cNvPr id="8" name="Google Shape;182;p31">
            <a:extLst>
              <a:ext uri="{FF2B5EF4-FFF2-40B4-BE49-F238E27FC236}">
                <a16:creationId xmlns:a16="http://schemas.microsoft.com/office/drawing/2014/main" id="{4D45377E-C9BC-2074-C423-FF80CA089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1296" y="1042827"/>
            <a:ext cx="8699622" cy="731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Объект </a:t>
            </a:r>
            <a:r>
              <a:rPr lang="en-US" dirty="0" err="1">
                <a:solidFill>
                  <a:schemeClr val="dk1"/>
                </a:solidFill>
              </a:rPr>
              <a:t>VkRenderPass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инкапсулирует задачи отрисовки изображений и зависимости между задачами для синхронизации чтения</a:t>
            </a:r>
            <a:r>
              <a:rPr lang="en-US" dirty="0">
                <a:solidFill>
                  <a:schemeClr val="dk1"/>
                </a:solidFill>
              </a:rPr>
              <a:t>/</a:t>
            </a:r>
            <a:r>
              <a:rPr lang="ru-RU" dirty="0">
                <a:solidFill>
                  <a:schemeClr val="dk1"/>
                </a:solidFill>
              </a:rPr>
              <a:t>записи для изображений</a:t>
            </a:r>
            <a:r>
              <a:rPr lang="en-US" dirty="0">
                <a:solidFill>
                  <a:schemeClr val="dk1"/>
                </a:solidFill>
              </a:rPr>
              <a:t>:</a:t>
            </a:r>
            <a:endParaRPr lang="ru-RU" noProof="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3275"/>
            <a:ext cx="8839199" cy="25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447447-B10D-CDE6-9E94-91D02231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Рендер проход</a:t>
            </a:r>
            <a:r>
              <a:rPr lang="en-US" sz="2800" b="1" noProof="0" dirty="0"/>
              <a:t>: </a:t>
            </a:r>
            <a:r>
              <a:rPr lang="ru-RU" b="1" dirty="0"/>
              <a:t>на низком уровне</a:t>
            </a:r>
            <a:endParaRPr lang="ru-RU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FDA2DD-6C7C-309C-8F35-063FDB72B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914405"/>
            <a:ext cx="4981836" cy="4286474"/>
          </a:xfrm>
          <a:prstGeom prst="rect">
            <a:avLst/>
          </a:prstGeom>
        </p:spPr>
      </p:pic>
      <p:sp>
        <p:nvSpPr>
          <p:cNvPr id="2" name="Google Shape;134;p24">
            <a:extLst>
              <a:ext uri="{FF2B5EF4-FFF2-40B4-BE49-F238E27FC236}">
                <a16:creationId xmlns:a16="http://schemas.microsoft.com/office/drawing/2014/main" id="{5BF93F58-4E7D-BA79-8171-B0ED8B3496EE}"/>
              </a:ext>
            </a:extLst>
          </p:cNvPr>
          <p:cNvSpPr txBox="1"/>
          <p:nvPr/>
        </p:nvSpPr>
        <p:spPr>
          <a:xfrm>
            <a:off x="3426749" y="955642"/>
            <a:ext cx="373357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Очищаем командный буфер</a:t>
            </a:r>
          </a:p>
        </p:txBody>
      </p:sp>
      <p:sp>
        <p:nvSpPr>
          <p:cNvPr id="3" name="Google Shape;134;p24">
            <a:extLst>
              <a:ext uri="{FF2B5EF4-FFF2-40B4-BE49-F238E27FC236}">
                <a16:creationId xmlns:a16="http://schemas.microsoft.com/office/drawing/2014/main" id="{4B915B30-68D7-0A25-94E8-AE1C6D6CA6E3}"/>
              </a:ext>
            </a:extLst>
          </p:cNvPr>
          <p:cNvSpPr txBox="1"/>
          <p:nvPr/>
        </p:nvSpPr>
        <p:spPr>
          <a:xfrm>
            <a:off x="4690773" y="2090574"/>
            <a:ext cx="373357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Начинаем записывать командный буфер</a:t>
            </a:r>
          </a:p>
        </p:txBody>
      </p:sp>
      <p:sp>
        <p:nvSpPr>
          <p:cNvPr id="4" name="Google Shape;134;p24">
            <a:extLst>
              <a:ext uri="{FF2B5EF4-FFF2-40B4-BE49-F238E27FC236}">
                <a16:creationId xmlns:a16="http://schemas.microsoft.com/office/drawing/2014/main" id="{CD427681-9E70-07B8-61FA-5E99D03B7438}"/>
              </a:ext>
            </a:extLst>
          </p:cNvPr>
          <p:cNvSpPr txBox="1"/>
          <p:nvPr/>
        </p:nvSpPr>
        <p:spPr>
          <a:xfrm>
            <a:off x="4433143" y="2436639"/>
            <a:ext cx="456742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Назначаем значения для очистки изображений</a:t>
            </a: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Изображение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№1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цветное, выставляем 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RGBA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во 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noProof="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Изображение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№2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глубина, выставляем 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 = 1,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совсем далеко,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второй параметр это значение 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stencil,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его выставляем в 0</a:t>
            </a:r>
            <a:endParaRPr lang="ru-RU" sz="9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134;p24">
            <a:extLst>
              <a:ext uri="{FF2B5EF4-FFF2-40B4-BE49-F238E27FC236}">
                <a16:creationId xmlns:a16="http://schemas.microsoft.com/office/drawing/2014/main" id="{4C02102E-1C59-2229-A4DB-A4CCA9E60B56}"/>
              </a:ext>
            </a:extLst>
          </p:cNvPr>
          <p:cNvSpPr txBox="1"/>
          <p:nvPr/>
        </p:nvSpPr>
        <p:spPr>
          <a:xfrm>
            <a:off x="2958791" y="3546469"/>
            <a:ext cx="578000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Какой объект заданий для отрисовки будет использоваться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? 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Поговорим о нём позже</a:t>
            </a:r>
            <a:endParaRPr lang="ru-RU" sz="9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134;p24">
            <a:extLst>
              <a:ext uri="{FF2B5EF4-FFF2-40B4-BE49-F238E27FC236}">
                <a16:creationId xmlns:a16="http://schemas.microsoft.com/office/drawing/2014/main" id="{FFFE91F4-2F52-A76C-3EB1-6F18AD190E00}"/>
              </a:ext>
            </a:extLst>
          </p:cNvPr>
          <p:cNvSpPr txBox="1"/>
          <p:nvPr/>
        </p:nvSpPr>
        <p:spPr>
          <a:xfrm>
            <a:off x="2709573" y="3705288"/>
            <a:ext cx="4567421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В какой контейнер изображений рисовать</a:t>
            </a: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lang="ru-RU" sz="9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Google Shape;134;p24">
            <a:extLst>
              <a:ext uri="{FF2B5EF4-FFF2-40B4-BE49-F238E27FC236}">
                <a16:creationId xmlns:a16="http://schemas.microsoft.com/office/drawing/2014/main" id="{5E9B4881-71A3-DD1B-8C60-E6606594390A}"/>
              </a:ext>
            </a:extLst>
          </p:cNvPr>
          <p:cNvSpPr txBox="1"/>
          <p:nvPr/>
        </p:nvSpPr>
        <p:spPr>
          <a:xfrm>
            <a:off x="4252333" y="3867921"/>
            <a:ext cx="4567421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Каковы размеры изображений, куда будем записывать (рисовать)</a:t>
            </a:r>
            <a:endParaRPr lang="ru-RU" sz="9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" name="Google Shape;134;p24">
            <a:extLst>
              <a:ext uri="{FF2B5EF4-FFF2-40B4-BE49-F238E27FC236}">
                <a16:creationId xmlns:a16="http://schemas.microsoft.com/office/drawing/2014/main" id="{AB95EF2D-0D7C-A6B6-972E-636BD073E141}"/>
              </a:ext>
            </a:extLst>
          </p:cNvPr>
          <p:cNvSpPr txBox="1"/>
          <p:nvPr/>
        </p:nvSpPr>
        <p:spPr>
          <a:xfrm>
            <a:off x="3710033" y="4842765"/>
            <a:ext cx="578000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9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Начинаем рисовать!</a:t>
            </a:r>
            <a:endParaRPr lang="ru-RU" sz="9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21FFC98-6D15-875E-2EF3-E76D9877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Начинаем рисовать!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FCDBDF4-2EA8-24E6-1B69-5765AF4F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76D93-77DC-A651-DC7C-8434272EC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03" y="1068597"/>
            <a:ext cx="7135502" cy="3904556"/>
          </a:xfrm>
          <a:prstGeom prst="rect">
            <a:avLst/>
          </a:prstGeom>
        </p:spPr>
      </p:pic>
      <p:sp>
        <p:nvSpPr>
          <p:cNvPr id="2" name="Google Shape;134;p24">
            <a:extLst>
              <a:ext uri="{FF2B5EF4-FFF2-40B4-BE49-F238E27FC236}">
                <a16:creationId xmlns:a16="http://schemas.microsoft.com/office/drawing/2014/main" id="{573BC77B-B6B7-44C5-4DEC-DCC646C7F7B7}"/>
              </a:ext>
            </a:extLst>
          </p:cNvPr>
          <p:cNvSpPr txBox="1"/>
          <p:nvPr/>
        </p:nvSpPr>
        <p:spPr>
          <a:xfrm>
            <a:off x="311700" y="2605174"/>
            <a:ext cx="578000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Задаём значения областей отрисовки и отрезания</a:t>
            </a:r>
            <a:endParaRPr lang="ru-RU" sz="11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" name="Google Shape;134;p24">
            <a:extLst>
              <a:ext uri="{FF2B5EF4-FFF2-40B4-BE49-F238E27FC236}">
                <a16:creationId xmlns:a16="http://schemas.microsoft.com/office/drawing/2014/main" id="{50880158-FB03-A8A0-9968-0F750CB4C9CA}"/>
              </a:ext>
            </a:extLst>
          </p:cNvPr>
          <p:cNvSpPr txBox="1"/>
          <p:nvPr/>
        </p:nvSpPr>
        <p:spPr>
          <a:xfrm>
            <a:off x="311700" y="3227325"/>
            <a:ext cx="578000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Задаём текущим наш новый графический конвейер</a:t>
            </a:r>
            <a:endParaRPr lang="ru-RU" sz="11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Google Shape;134;p24">
            <a:extLst>
              <a:ext uri="{FF2B5EF4-FFF2-40B4-BE49-F238E27FC236}">
                <a16:creationId xmlns:a16="http://schemas.microsoft.com/office/drawing/2014/main" id="{7BBFAB0D-019F-AB46-36C8-8AF63DAC8B71}"/>
              </a:ext>
            </a:extLst>
          </p:cNvPr>
          <p:cNvSpPr txBox="1"/>
          <p:nvPr/>
        </p:nvSpPr>
        <p:spPr>
          <a:xfrm>
            <a:off x="311700" y="3627151"/>
            <a:ext cx="829800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Рисуем один треугольник (3 вершины, 1 экземпляр, остальные аргументы – смещения, </a:t>
            </a:r>
            <a:r>
              <a:rPr lang="ru-RU" sz="1100" dirty="0" err="1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игнорим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 </a:t>
            </a:r>
            <a:endParaRPr lang="ru-RU" sz="11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134;p24">
            <a:extLst>
              <a:ext uri="{FF2B5EF4-FFF2-40B4-BE49-F238E27FC236}">
                <a16:creationId xmlns:a16="http://schemas.microsoft.com/office/drawing/2014/main" id="{53D5D23D-2B05-7ADE-B44E-9A9B8148D900}"/>
              </a:ext>
            </a:extLst>
          </p:cNvPr>
          <p:cNvSpPr txBox="1"/>
          <p:nvPr/>
        </p:nvSpPr>
        <p:spPr>
          <a:xfrm>
            <a:off x="3583818" y="4234069"/>
            <a:ext cx="548846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Заканчиваем рисовать!</a:t>
            </a:r>
            <a:endParaRPr lang="ru-RU" sz="11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134;p24">
            <a:extLst>
              <a:ext uri="{FF2B5EF4-FFF2-40B4-BE49-F238E27FC236}">
                <a16:creationId xmlns:a16="http://schemas.microsoft.com/office/drawing/2014/main" id="{FAE48FF6-BE07-5502-EBD0-8A3D898E636C}"/>
              </a:ext>
            </a:extLst>
          </p:cNvPr>
          <p:cNvSpPr txBox="1"/>
          <p:nvPr/>
        </p:nvSpPr>
        <p:spPr>
          <a:xfrm>
            <a:off x="3583817" y="4642196"/>
            <a:ext cx="548846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100" dirty="0">
                <a:solidFill>
                  <a:srgbClr val="12A10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Заканчиваем записывать командный буфер</a:t>
            </a:r>
            <a:endParaRPr lang="ru-RU" sz="1100" noProof="0" dirty="0">
              <a:solidFill>
                <a:srgbClr val="12A10F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9F6B93A-BF26-BA75-02A7-454E374E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Рисуем!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228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9"/>
          <p:cNvPicPr preferRelativeResize="0"/>
          <p:nvPr/>
        </p:nvPicPr>
        <p:blipFill rotWithShape="1">
          <a:blip r:embed="rId3">
            <a:alphaModFix/>
          </a:blip>
          <a:srcRect t="15015" b="18869"/>
          <a:stretch/>
        </p:blipFill>
        <p:spPr>
          <a:xfrm>
            <a:off x="0" y="0"/>
            <a:ext cx="103725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1734</Words>
  <Application>Microsoft Office PowerPoint</Application>
  <PresentationFormat>On-screen Show (16:9)</PresentationFormat>
  <Paragraphs>175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Nunito</vt:lpstr>
      <vt:lpstr>Wingdings</vt:lpstr>
      <vt:lpstr>Arial</vt:lpstr>
      <vt:lpstr>Roboto Mono</vt:lpstr>
      <vt:lpstr>Simple Light</vt:lpstr>
      <vt:lpstr>PowerPoint Presentation</vt:lpstr>
      <vt:lpstr>Vulkan (high-level)</vt:lpstr>
      <vt:lpstr>Графический конвейер</vt:lpstr>
      <vt:lpstr>Графический конвейер</vt:lpstr>
      <vt:lpstr>Графический конвейер: объект VkPipeline</vt:lpstr>
      <vt:lpstr>Графический конвейер: Vulkan</vt:lpstr>
      <vt:lpstr>Графический конвейер: Vertex &amp; fragment shader</vt:lpstr>
      <vt:lpstr>Графический конвейер: Vertex &amp; fragment shader</vt:lpstr>
      <vt:lpstr>Шейдеры: процесс компиляции</vt:lpstr>
      <vt:lpstr>Вершинный шейдер: прога для каждой вершины</vt:lpstr>
      <vt:lpstr>Фрагментный шейдер: прога для каждого пикселя</vt:lpstr>
      <vt:lpstr>Графический конвейер: Input assembler</vt:lpstr>
      <vt:lpstr>Графический конвейер: Primitive assembler</vt:lpstr>
      <vt:lpstr>Графический конвейер: viewport и scissor</vt:lpstr>
      <vt:lpstr>Графический конвейер: Растеризатор</vt:lpstr>
      <vt:lpstr>Внезапно, важен порядок обхода треугольника</vt:lpstr>
      <vt:lpstr>Внезапно, важен порядок обхода треугольника</vt:lpstr>
      <vt:lpstr>Внезапно, важен порядок обхода треугольника</vt:lpstr>
      <vt:lpstr>PowerPoint Presentation</vt:lpstr>
      <vt:lpstr>Множественная выборка (multi-sampling)</vt:lpstr>
      <vt:lpstr>Графический конвейер: Depth/stencil test</vt:lpstr>
      <vt:lpstr>Графический конвейер: Depth test</vt:lpstr>
      <vt:lpstr>Графический конвейер: Depth test</vt:lpstr>
      <vt:lpstr>Графический конвейер: Color blending</vt:lpstr>
      <vt:lpstr>Графический конвейер: динамические параметры</vt:lpstr>
      <vt:lpstr>Графический конвейер: данные извне</vt:lpstr>
      <vt:lpstr>Цепочка кадров</vt:lpstr>
      <vt:lpstr>Рендер проход: на высоком уровне</vt:lpstr>
      <vt:lpstr>Рендер проход: на низком уровне</vt:lpstr>
      <vt:lpstr>Начинаем рисовать!</vt:lpstr>
      <vt:lpstr>Рисуем!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7</cp:revision>
  <dcterms:modified xsi:type="dcterms:W3CDTF">2026-09-20T19:17:56Z</dcterms:modified>
</cp:coreProperties>
</file>