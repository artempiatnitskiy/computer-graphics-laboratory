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8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Nunito" panose="020B0604020202020204" charset="0"/>
      <p:regular r:id="rId33"/>
      <p:bold r:id="rId34"/>
      <p:italic r:id="rId35"/>
      <p:boldItalic r:id="rId36"/>
    </p:embeddedFont>
    <p:embeddedFont>
      <p:font typeface="Oswald"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66"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7afe22aae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7afe22aae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d4da6d867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7d4da6d867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7d4da6d867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7d4da6d86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7d4da6d86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7d4da6d86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7d4da6d867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7d4da6d867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7d4da6d867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7d4da6d867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7d4da6d867_0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7d4da6d867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7d4da6d867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7d4da6d867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7d4da6d867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7d4da6d867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7d4da6d867_0_2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7d4da6d867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d4da6d867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d4da6d867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7d4da6d867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7d4da6d867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7d4da6d867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7d4da6d867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d4da6d867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d4da6d867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7d4da6d867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7d4da6d867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d4da6d867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7d4da6d867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d4da6d867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d4da6d867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d4da6d867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7d4da6d867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7d4da6d867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7d4da6d867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7d4da6d867_0_3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7d4da6d867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7d4da6d867_0_3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7d4da6d867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d4da6d867_0_4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7d4da6d867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d4da6d867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d4da6d867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d4da6d867_0_4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7d4da6d867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7d4da6d867_0_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7d4da6d867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7d4da6d867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7d4da6d867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7d4da6d867_0_4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7d4da6d867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7d4da6d867_0_4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7d4da6d867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7d4da6d867_0_4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7d4da6d867_0_4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52400" y="152400"/>
            <a:ext cx="8814375" cy="2475950"/>
          </a:xfrm>
          <a:prstGeom prst="rect">
            <a:avLst/>
          </a:prstGeom>
          <a:noFill/>
          <a:ln>
            <a:noFill/>
          </a:ln>
        </p:spPr>
      </p:pic>
      <p:pic>
        <p:nvPicPr>
          <p:cNvPr id="55" name="Google Shape;55;p13"/>
          <p:cNvPicPr preferRelativeResize="0"/>
          <p:nvPr/>
        </p:nvPicPr>
        <p:blipFill>
          <a:blip r:embed="rId4">
            <a:alphaModFix/>
          </a:blip>
          <a:stretch>
            <a:fillRect/>
          </a:stretch>
        </p:blipFill>
        <p:spPr>
          <a:xfrm>
            <a:off x="152400" y="4069750"/>
            <a:ext cx="8658225" cy="914400"/>
          </a:xfrm>
          <a:prstGeom prst="rect">
            <a:avLst/>
          </a:prstGeom>
          <a:noFill/>
          <a:ln>
            <a:noFill/>
          </a:ln>
        </p:spPr>
      </p:pic>
      <p:sp>
        <p:nvSpPr>
          <p:cNvPr id="56" name="Google Shape;56;p13"/>
          <p:cNvSpPr txBox="1"/>
          <p:nvPr/>
        </p:nvSpPr>
        <p:spPr>
          <a:xfrm>
            <a:off x="293813" y="2675550"/>
            <a:ext cx="8375400" cy="134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3800" b="1">
                <a:solidFill>
                  <a:schemeClr val="dk1"/>
                </a:solidFill>
                <a:latin typeface="Nunito"/>
                <a:ea typeface="Nunito"/>
                <a:cs typeface="Nunito"/>
                <a:sym typeface="Nunito"/>
              </a:rPr>
              <a:t>REAL-TIME</a:t>
            </a:r>
            <a:endParaRPr sz="3800" b="1">
              <a:solidFill>
                <a:schemeClr val="dk1"/>
              </a:solidFill>
              <a:latin typeface="Nunito"/>
              <a:ea typeface="Nunito"/>
              <a:cs typeface="Nunito"/>
              <a:sym typeface="Nunito"/>
            </a:endParaRPr>
          </a:p>
          <a:p>
            <a:pPr marL="0" lvl="0" indent="0" algn="ctr" rtl="0">
              <a:spcBef>
                <a:spcPts val="0"/>
              </a:spcBef>
              <a:spcAft>
                <a:spcPts val="0"/>
              </a:spcAft>
              <a:buNone/>
            </a:pPr>
            <a:r>
              <a:rPr lang="en-GB" sz="3800" b="1">
                <a:solidFill>
                  <a:schemeClr val="dk1"/>
                </a:solidFill>
                <a:latin typeface="Nunito"/>
                <a:ea typeface="Nunito"/>
                <a:cs typeface="Nunito"/>
                <a:sym typeface="Nunito"/>
              </a:rPr>
              <a:t>C O M P U T E R    G R A P H I C S</a:t>
            </a:r>
            <a:endParaRPr sz="3800" b="1">
              <a:solidFill>
                <a:schemeClr val="dk1"/>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4" name="TextBox 3">
            <a:extLst>
              <a:ext uri="{FF2B5EF4-FFF2-40B4-BE49-F238E27FC236}">
                <a16:creationId xmlns:a16="http://schemas.microsoft.com/office/drawing/2014/main" id="{01EB9D27-BEBD-F6E1-88D9-C30A697831B0}"/>
              </a:ext>
            </a:extLst>
          </p:cNvPr>
          <p:cNvSpPr txBox="1"/>
          <p:nvPr/>
        </p:nvSpPr>
        <p:spPr>
          <a:xfrm>
            <a:off x="996875" y="4396292"/>
            <a:ext cx="7150249" cy="584775"/>
          </a:xfrm>
          <a:prstGeom prst="rect">
            <a:avLst/>
          </a:prstGeom>
          <a:noFill/>
        </p:spPr>
        <p:txBody>
          <a:bodyPr wrap="square" rtlCol="0">
            <a:spAutoFit/>
          </a:bodyPr>
          <a:lstStyle/>
          <a:p>
            <a:pPr algn="ctr"/>
            <a:r>
              <a:rPr lang="en-US" sz="3200" b="1" dirty="0" err="1"/>
              <a:t>vdbakharev@mai.education</a:t>
            </a:r>
            <a:endParaRPr lang="ru-RU" sz="3200" b="1" dirty="0"/>
          </a:p>
        </p:txBody>
      </p:sp>
      <p:pic>
        <p:nvPicPr>
          <p:cNvPr id="5" name="Picture 4">
            <a:extLst>
              <a:ext uri="{FF2B5EF4-FFF2-40B4-BE49-F238E27FC236}">
                <a16:creationId xmlns:a16="http://schemas.microsoft.com/office/drawing/2014/main" id="{0CAAEFBB-3686-60AA-CF5A-196C7D1B3320}"/>
              </a:ext>
            </a:extLst>
          </p:cNvPr>
          <p:cNvPicPr>
            <a:picLocks noChangeAspect="1"/>
          </p:cNvPicPr>
          <p:nvPr/>
        </p:nvPicPr>
        <p:blipFill>
          <a:blip r:embed="rId3"/>
          <a:stretch>
            <a:fillRect/>
          </a:stretch>
        </p:blipFill>
        <p:spPr>
          <a:xfrm>
            <a:off x="2413062" y="86061"/>
            <a:ext cx="4317873" cy="43102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34328" algn="l" rtl="0">
              <a:spcBef>
                <a:spcPts val="0"/>
              </a:spcBef>
              <a:spcAft>
                <a:spcPts val="0"/>
              </a:spcAft>
              <a:buClr>
                <a:schemeClr val="dk1"/>
              </a:buClr>
              <a:buSzPct val="100000"/>
              <a:buChar char="●"/>
            </a:pPr>
            <a:r>
              <a:rPr lang="en-GB">
                <a:solidFill>
                  <a:schemeClr val="dk1"/>
                </a:solidFill>
              </a:rPr>
              <a:t>Мы уважаем друг друга и вместе создаем доброжелательную среду, чтобы нам было комфортно и безопасно взаимодействовать</a:t>
            </a:r>
            <a:endParaRPr>
              <a:solidFill>
                <a:schemeClr val="dk1"/>
              </a:solidFill>
            </a:endParaRPr>
          </a:p>
          <a:p>
            <a:pPr marL="457200" lvl="0" indent="-334328" algn="l" rtl="0">
              <a:spcBef>
                <a:spcPts val="1000"/>
              </a:spcBef>
              <a:spcAft>
                <a:spcPts val="0"/>
              </a:spcAft>
              <a:buClr>
                <a:schemeClr val="dk1"/>
              </a:buClr>
              <a:buSzPct val="100000"/>
              <a:buChar char="●"/>
            </a:pPr>
            <a:r>
              <a:rPr lang="en-GB">
                <a:solidFill>
                  <a:schemeClr val="dk1"/>
                </a:solidFill>
              </a:rPr>
              <a:t>В сообщениях или устном обмене мыслями </a:t>
            </a:r>
            <a:r>
              <a:rPr lang="en-GB" b="1">
                <a:solidFill>
                  <a:schemeClr val="dk1"/>
                </a:solidFill>
              </a:rPr>
              <a:t>не переходим на личности</a:t>
            </a:r>
            <a:r>
              <a:rPr lang="en-GB">
                <a:solidFill>
                  <a:schemeClr val="dk1"/>
                </a:solidFill>
              </a:rPr>
              <a:t>, и не обсуждаем острые темы, мы – коллеги</a:t>
            </a:r>
            <a:endParaRPr>
              <a:solidFill>
                <a:schemeClr val="dk1"/>
              </a:solidFill>
            </a:endParaRPr>
          </a:p>
          <a:p>
            <a:pPr marL="457200" lvl="0" indent="-334328" algn="l" rtl="0">
              <a:spcBef>
                <a:spcPts val="1000"/>
              </a:spcBef>
              <a:spcAft>
                <a:spcPts val="0"/>
              </a:spcAft>
              <a:buClr>
                <a:schemeClr val="dk1"/>
              </a:buClr>
              <a:buSzPct val="100000"/>
              <a:buChar char="●"/>
            </a:pPr>
            <a:r>
              <a:rPr lang="en-GB">
                <a:solidFill>
                  <a:schemeClr val="dk1"/>
                </a:solidFill>
              </a:rPr>
              <a:t>Все вопросы по курсу, которые возникли вне лекции, </a:t>
            </a:r>
            <a:r>
              <a:rPr lang="en-GB" b="1">
                <a:solidFill>
                  <a:schemeClr val="dk1"/>
                </a:solidFill>
              </a:rPr>
              <a:t>пишите в общий чат</a:t>
            </a:r>
            <a:r>
              <a:rPr lang="en-GB">
                <a:solidFill>
                  <a:schemeClr val="dk1"/>
                </a:solidFill>
              </a:rPr>
              <a:t>, а не в личку, чтобы все могли научиться и добавить что-то свое</a:t>
            </a:r>
            <a:endParaRPr>
              <a:solidFill>
                <a:schemeClr val="dk1"/>
              </a:solidFill>
            </a:endParaRPr>
          </a:p>
          <a:p>
            <a:pPr marL="457200" lvl="0" indent="-334328" algn="l" rtl="0">
              <a:spcBef>
                <a:spcPts val="1000"/>
              </a:spcBef>
              <a:spcAft>
                <a:spcPts val="0"/>
              </a:spcAft>
              <a:buClr>
                <a:schemeClr val="dk1"/>
              </a:buClr>
              <a:buSzPct val="100000"/>
              <a:buChar char="●"/>
            </a:pPr>
            <a:r>
              <a:rPr lang="en-GB">
                <a:solidFill>
                  <a:schemeClr val="dk1"/>
                </a:solidFill>
              </a:rPr>
              <a:t>Я готов отвечать на вопросы каждый день с </a:t>
            </a:r>
            <a:r>
              <a:rPr lang="en-GB" b="1">
                <a:solidFill>
                  <a:schemeClr val="dk1"/>
                </a:solidFill>
              </a:rPr>
              <a:t>20:00</a:t>
            </a:r>
            <a:r>
              <a:rPr lang="en-GB">
                <a:solidFill>
                  <a:schemeClr val="dk1"/>
                </a:solidFill>
              </a:rPr>
              <a:t> до </a:t>
            </a:r>
            <a:r>
              <a:rPr lang="en-GB" b="1">
                <a:solidFill>
                  <a:schemeClr val="dk1"/>
                </a:solidFill>
              </a:rPr>
              <a:t>23:00</a:t>
            </a:r>
            <a:endParaRPr b="1">
              <a:solidFill>
                <a:schemeClr val="dk1"/>
              </a:solidFill>
            </a:endParaRPr>
          </a:p>
          <a:p>
            <a:pPr marL="457200" lvl="0" indent="-334328" algn="l" rtl="0">
              <a:spcBef>
                <a:spcPts val="1000"/>
              </a:spcBef>
              <a:spcAft>
                <a:spcPts val="0"/>
              </a:spcAft>
              <a:buClr>
                <a:schemeClr val="dk1"/>
              </a:buClr>
              <a:buSzPct val="100000"/>
              <a:buChar char="●"/>
            </a:pPr>
            <a:r>
              <a:rPr lang="en-GB" b="1">
                <a:solidFill>
                  <a:schemeClr val="dk1"/>
                </a:solidFill>
              </a:rPr>
              <a:t>Не стесняйтесь делиться идеями</a:t>
            </a:r>
            <a:r>
              <a:rPr lang="en-GB">
                <a:solidFill>
                  <a:schemeClr val="dk1"/>
                </a:solidFill>
              </a:rPr>
              <a:t> и обсуждать задания в чатике</a:t>
            </a:r>
            <a:endParaRPr>
              <a:solidFill>
                <a:schemeClr val="dk1"/>
              </a:solidFill>
            </a:endParaRPr>
          </a:p>
          <a:p>
            <a:pPr marL="457200" lvl="0" indent="-334328" algn="l" rtl="0">
              <a:spcBef>
                <a:spcPts val="1000"/>
              </a:spcBef>
              <a:spcAft>
                <a:spcPts val="0"/>
              </a:spcAft>
              <a:buClr>
                <a:schemeClr val="dk1"/>
              </a:buClr>
              <a:buSzPct val="100000"/>
              <a:buChar char="●"/>
            </a:pPr>
            <a:r>
              <a:rPr lang="en-GB">
                <a:solidFill>
                  <a:schemeClr val="dk1"/>
                </a:solidFill>
              </a:rPr>
              <a:t>Глупых вопросов не бывает, понимание даст вам уверенность в знаниях</a:t>
            </a:r>
            <a:endParaRPr>
              <a:solidFill>
                <a:schemeClr val="dk1"/>
              </a:solidFill>
            </a:endParaRPr>
          </a:p>
          <a:p>
            <a:pPr marL="457200" lvl="0" indent="-334328" algn="l" rtl="0">
              <a:spcBef>
                <a:spcPts val="1000"/>
              </a:spcBef>
              <a:spcAft>
                <a:spcPts val="1000"/>
              </a:spcAft>
              <a:buClr>
                <a:schemeClr val="dk1"/>
              </a:buClr>
              <a:buSzPct val="100000"/>
              <a:buChar char="●"/>
            </a:pPr>
            <a:r>
              <a:rPr lang="en-GB">
                <a:solidFill>
                  <a:schemeClr val="dk1"/>
                </a:solidFill>
              </a:rPr>
              <a:t>Я готов к </a:t>
            </a:r>
            <a:r>
              <a:rPr lang="en-GB" b="1">
                <a:solidFill>
                  <a:schemeClr val="dk1"/>
                </a:solidFill>
              </a:rPr>
              <a:t>обратной связи</a:t>
            </a:r>
            <a:r>
              <a:rPr lang="en-GB">
                <a:solidFill>
                  <a:schemeClr val="dk1"/>
                </a:solidFill>
              </a:rPr>
              <a:t>, потому хочу сделать этот курс лучше</a:t>
            </a:r>
            <a:endParaRPr>
              <a:solidFill>
                <a:schemeClr val="dk1"/>
              </a:solidFill>
            </a:endParaRPr>
          </a:p>
        </p:txBody>
      </p:sp>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 </a:t>
            </a:r>
            <a:r>
              <a:rPr lang="en-GB" b="1"/>
              <a:t>Давайте договоримся</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GB">
                <a:solidFill>
                  <a:schemeClr val="dk1"/>
                </a:solidFill>
              </a:rPr>
              <a:t>Базовое знание языков C и C++</a:t>
            </a:r>
            <a:endParaRPr>
              <a:solidFill>
                <a:schemeClr val="dk1"/>
              </a:solidFill>
            </a:endParaRPr>
          </a:p>
          <a:p>
            <a:pPr marL="457200" lvl="0" indent="-342900" algn="l" rtl="0">
              <a:spcBef>
                <a:spcPts val="1000"/>
              </a:spcBef>
              <a:spcAft>
                <a:spcPts val="0"/>
              </a:spcAft>
              <a:buClr>
                <a:schemeClr val="dk1"/>
              </a:buClr>
              <a:buSzPts val="1800"/>
              <a:buChar char="●"/>
            </a:pPr>
            <a:r>
              <a:rPr lang="en-GB">
                <a:solidFill>
                  <a:schemeClr val="dk1"/>
                </a:solidFill>
              </a:rPr>
              <a:t>Знание курсов:</a:t>
            </a:r>
            <a:endParaRPr>
              <a:solidFill>
                <a:schemeClr val="dk1"/>
              </a:solidFill>
            </a:endParaRPr>
          </a:p>
          <a:p>
            <a:pPr marL="914400" lvl="0" indent="-342900" algn="l" rtl="0">
              <a:spcBef>
                <a:spcPts val="1000"/>
              </a:spcBef>
              <a:spcAft>
                <a:spcPts val="0"/>
              </a:spcAft>
              <a:buClr>
                <a:schemeClr val="dk1"/>
              </a:buClr>
              <a:buSzPts val="1800"/>
              <a:buChar char="-"/>
            </a:pPr>
            <a:r>
              <a:rPr lang="en-GB">
                <a:solidFill>
                  <a:schemeClr val="dk1"/>
                </a:solidFill>
              </a:rPr>
              <a:t>Линейной алгебры</a:t>
            </a:r>
            <a:endParaRPr>
              <a:solidFill>
                <a:schemeClr val="dk1"/>
              </a:solidFill>
            </a:endParaRPr>
          </a:p>
          <a:p>
            <a:pPr marL="914400" lvl="0" indent="-342900" algn="l" rtl="0">
              <a:spcBef>
                <a:spcPts val="0"/>
              </a:spcBef>
              <a:spcAft>
                <a:spcPts val="0"/>
              </a:spcAft>
              <a:buClr>
                <a:schemeClr val="dk1"/>
              </a:buClr>
              <a:buSzPts val="1800"/>
              <a:buChar char="-"/>
            </a:pPr>
            <a:r>
              <a:rPr lang="en-GB">
                <a:solidFill>
                  <a:schemeClr val="dk1"/>
                </a:solidFill>
              </a:rPr>
              <a:t>Школьной геометрии</a:t>
            </a:r>
            <a:endParaRPr>
              <a:solidFill>
                <a:schemeClr val="dk1"/>
              </a:solidFill>
            </a:endParaRPr>
          </a:p>
          <a:p>
            <a:pPr marL="914400" lvl="0" indent="-342900" algn="l" rtl="0">
              <a:spcBef>
                <a:spcPts val="0"/>
              </a:spcBef>
              <a:spcAft>
                <a:spcPts val="0"/>
              </a:spcAft>
              <a:buClr>
                <a:schemeClr val="dk1"/>
              </a:buClr>
              <a:buSzPts val="1800"/>
              <a:buChar char="-"/>
            </a:pPr>
            <a:r>
              <a:rPr lang="en-GB">
                <a:solidFill>
                  <a:schemeClr val="dk1"/>
                </a:solidFill>
              </a:rPr>
              <a:t>Архитектуры ЭВМ </a:t>
            </a:r>
            <a:r>
              <a:rPr lang="en-GB" i="1">
                <a:solidFill>
                  <a:schemeClr val="dk1"/>
                </a:solidFill>
              </a:rPr>
              <a:t>(опционально)</a:t>
            </a:r>
            <a:endParaRPr i="1">
              <a:solidFill>
                <a:schemeClr val="dk1"/>
              </a:solidFill>
            </a:endParaRPr>
          </a:p>
          <a:p>
            <a:pPr marL="914400" lvl="0" indent="-342900" algn="l" rtl="0">
              <a:spcBef>
                <a:spcPts val="0"/>
              </a:spcBef>
              <a:spcAft>
                <a:spcPts val="0"/>
              </a:spcAft>
              <a:buClr>
                <a:schemeClr val="dk1"/>
              </a:buClr>
              <a:buSzPts val="1800"/>
              <a:buChar char="-"/>
            </a:pPr>
            <a:r>
              <a:rPr lang="en-GB">
                <a:solidFill>
                  <a:schemeClr val="dk1"/>
                </a:solidFill>
              </a:rPr>
              <a:t>Операционных систем </a:t>
            </a:r>
            <a:r>
              <a:rPr lang="en-GB" i="1">
                <a:solidFill>
                  <a:schemeClr val="dk1"/>
                </a:solidFill>
              </a:rPr>
              <a:t>(опционально)</a:t>
            </a:r>
            <a:endParaRPr i="1">
              <a:solidFill>
                <a:schemeClr val="dk1"/>
              </a:solidFill>
            </a:endParaRPr>
          </a:p>
        </p:txBody>
      </p:sp>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 </a:t>
            </a:r>
            <a:r>
              <a:rPr lang="en-GB" b="1"/>
              <a:t>Требования к студентам</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 О чём будет курс?</a:t>
            </a:r>
            <a:endParaRPr/>
          </a:p>
        </p:txBody>
      </p:sp>
      <p:sp>
        <p:nvSpPr>
          <p:cNvPr id="80" name="Google Shape;80;p17"/>
          <p:cNvSpPr txBox="1">
            <a:spLocks noGrp="1"/>
          </p:cNvSpPr>
          <p:nvPr>
            <p:ph type="body" idx="1"/>
          </p:nvPr>
        </p:nvSpPr>
        <p:spPr>
          <a:xfrm>
            <a:off x="311700" y="1152475"/>
            <a:ext cx="8520600" cy="37773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GB">
                <a:solidFill>
                  <a:schemeClr val="dk1"/>
                </a:solidFill>
              </a:rPr>
              <a:t>Вы умеете писать программы, которые считывают и выводят информацию в терминал, а также генерировали графики, а ещё знаете, что:</a:t>
            </a:r>
            <a:endParaRPr>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Компьютерная графика применяется в видеоиграх, кинематографе, архитектуре, дизайне, визуализации в научной и мат. сфере;</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Изображение формируется из пикселей;</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На ваших девайсах есть устройство (GPU), которое рисует графику;</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Это устройство можно программировать, чтобы получить желаемый результат.</a:t>
            </a:r>
            <a:endParaRPr>
              <a:solidFill>
                <a:schemeClr val="dk1"/>
              </a:solidFill>
            </a:endParaRPr>
          </a:p>
          <a:p>
            <a:pPr marL="0" lvl="0" indent="0" algn="l" rtl="0">
              <a:spcBef>
                <a:spcPts val="1200"/>
              </a:spcBef>
              <a:spcAft>
                <a:spcPts val="1200"/>
              </a:spcAft>
              <a:buNone/>
            </a:pPr>
            <a:r>
              <a:rPr lang="en-GB">
                <a:solidFill>
                  <a:schemeClr val="dk1"/>
                </a:solidFill>
              </a:rPr>
              <a:t>На этом курсе вы узнаете, как рисуется современная графика, как программировать GPU и как применить простую математику, чтобы увидеть на экране 3D и 2D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body" idx="1"/>
          </p:nvPr>
        </p:nvSpPr>
        <p:spPr>
          <a:xfrm>
            <a:off x="311700" y="1152475"/>
            <a:ext cx="8520600" cy="3783600"/>
          </a:xfrm>
          <a:prstGeom prst="rect">
            <a:avLst/>
          </a:prstGeom>
        </p:spPr>
        <p:txBody>
          <a:bodyPr spcFirstLastPara="1" wrap="square" lIns="91425" tIns="91425" rIns="91425" bIns="91425" anchor="t" anchorCtr="0">
            <a:normAutofit fontScale="62500" lnSpcReduction="20000"/>
          </a:bodyPr>
          <a:lstStyle/>
          <a:p>
            <a:pPr marL="457200" lvl="0" indent="-308610" algn="l" rtl="0">
              <a:spcBef>
                <a:spcPts val="0"/>
              </a:spcBef>
              <a:spcAft>
                <a:spcPts val="0"/>
              </a:spcAft>
              <a:buClr>
                <a:schemeClr val="dk1"/>
              </a:buClr>
              <a:buSzPct val="100000"/>
              <a:buChar char="●"/>
            </a:pPr>
            <a:r>
              <a:rPr lang="en-GB">
                <a:solidFill>
                  <a:schemeClr val="dk1"/>
                </a:solidFill>
              </a:rPr>
              <a:t>Математика: векторы, матрицы и преобразования</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Основные принципы компьютерной графики реального времени</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Введение в Vulkan: обзор Vulkan API на верхнем уровне</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Command buffers, render passes, pipelines, push constants</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Вершинные и фрагментные шейдеры, типы памяти и трансфер данных между RAM и VRAM, вершинные и индексные буферы</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Матрицы преобразования координат, дескрипторы и uniform буферы</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Модель(-и) освещения: диффузный и отражающие компоненты света по модели Блинна-Фонга</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Текстуры и normal-mapping?</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Shadow-mapping и PCF</a:t>
            </a:r>
            <a:endParaRPr>
              <a:solidFill>
                <a:schemeClr val="dk1"/>
              </a:solidFill>
            </a:endParaRPr>
          </a:p>
          <a:p>
            <a:pPr marL="457200" lvl="0" indent="-308610" algn="l" rtl="0">
              <a:spcBef>
                <a:spcPts val="1000"/>
              </a:spcBef>
              <a:spcAft>
                <a:spcPts val="0"/>
              </a:spcAft>
              <a:buClr>
                <a:schemeClr val="dk1"/>
              </a:buClr>
              <a:buSzPct val="100000"/>
              <a:buChar char="●"/>
            </a:pPr>
            <a:r>
              <a:rPr lang="en-GB">
                <a:solidFill>
                  <a:schemeClr val="dk1"/>
                </a:solidFill>
              </a:rPr>
              <a:t>Введение в вычисления на GPU и вычислительные шейдеры</a:t>
            </a:r>
            <a:endParaRPr>
              <a:solidFill>
                <a:schemeClr val="dk1"/>
              </a:solidFill>
            </a:endParaRPr>
          </a:p>
          <a:p>
            <a:pPr marL="457200" lvl="0" indent="-308610" algn="l" rtl="0">
              <a:spcBef>
                <a:spcPts val="1000"/>
              </a:spcBef>
              <a:spcAft>
                <a:spcPts val="1000"/>
              </a:spcAft>
              <a:buClr>
                <a:schemeClr val="dk1"/>
              </a:buClr>
              <a:buSzPct val="100000"/>
              <a:buChar char="●"/>
            </a:pPr>
            <a:r>
              <a:rPr lang="en-GB">
                <a:solidFill>
                  <a:schemeClr val="dk1"/>
                </a:solidFill>
              </a:rPr>
              <a:t>Ray-tracing, shader storage буферы</a:t>
            </a:r>
            <a:endParaRPr>
              <a:solidFill>
                <a:schemeClr val="dk1"/>
              </a:solidFill>
            </a:endParaRPr>
          </a:p>
        </p:txBody>
      </p:sp>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  </a:t>
            </a:r>
            <a:r>
              <a:rPr lang="en-GB" b="1"/>
              <a:t>Дорожная карта</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На чём программируют графику?</a:t>
            </a:r>
            <a:endParaRPr b="1"/>
          </a:p>
        </p:txBody>
      </p:sp>
      <p:pic>
        <p:nvPicPr>
          <p:cNvPr id="92" name="Google Shape;92;p19"/>
          <p:cNvPicPr preferRelativeResize="0"/>
          <p:nvPr/>
        </p:nvPicPr>
        <p:blipFill>
          <a:blip r:embed="rId3">
            <a:alphaModFix/>
          </a:blip>
          <a:stretch>
            <a:fillRect/>
          </a:stretch>
        </p:blipFill>
        <p:spPr>
          <a:xfrm>
            <a:off x="1024700" y="958200"/>
            <a:ext cx="2511200" cy="2511200"/>
          </a:xfrm>
          <a:prstGeom prst="rect">
            <a:avLst/>
          </a:prstGeom>
          <a:noFill/>
          <a:ln>
            <a:noFill/>
          </a:ln>
        </p:spPr>
      </p:pic>
      <p:pic>
        <p:nvPicPr>
          <p:cNvPr id="93" name="Google Shape;93;p19"/>
          <p:cNvPicPr preferRelativeResize="0"/>
          <p:nvPr/>
        </p:nvPicPr>
        <p:blipFill>
          <a:blip r:embed="rId4">
            <a:alphaModFix/>
          </a:blip>
          <a:stretch>
            <a:fillRect/>
          </a:stretch>
        </p:blipFill>
        <p:spPr>
          <a:xfrm>
            <a:off x="769950" y="2954975"/>
            <a:ext cx="3020700" cy="2013800"/>
          </a:xfrm>
          <a:prstGeom prst="rect">
            <a:avLst/>
          </a:prstGeom>
          <a:noFill/>
          <a:ln>
            <a:noFill/>
          </a:ln>
        </p:spPr>
      </p:pic>
      <p:pic>
        <p:nvPicPr>
          <p:cNvPr id="94" name="Google Shape;94;p19"/>
          <p:cNvPicPr preferRelativeResize="0"/>
          <p:nvPr/>
        </p:nvPicPr>
        <p:blipFill>
          <a:blip r:embed="rId5">
            <a:alphaModFix/>
          </a:blip>
          <a:stretch>
            <a:fillRect/>
          </a:stretch>
        </p:blipFill>
        <p:spPr>
          <a:xfrm>
            <a:off x="4274375" y="2895425"/>
            <a:ext cx="4027600" cy="2013800"/>
          </a:xfrm>
          <a:prstGeom prst="rect">
            <a:avLst/>
          </a:prstGeom>
          <a:noFill/>
          <a:ln>
            <a:noFill/>
          </a:ln>
        </p:spPr>
      </p:pic>
      <p:pic>
        <p:nvPicPr>
          <p:cNvPr id="95" name="Google Shape;95;p19"/>
          <p:cNvPicPr preferRelativeResize="0"/>
          <p:nvPr/>
        </p:nvPicPr>
        <p:blipFill>
          <a:blip r:embed="rId6">
            <a:alphaModFix/>
          </a:blip>
          <a:stretch>
            <a:fillRect/>
          </a:stretch>
        </p:blipFill>
        <p:spPr>
          <a:xfrm>
            <a:off x="4456088" y="1435938"/>
            <a:ext cx="2511200" cy="1555719"/>
          </a:xfrm>
          <a:prstGeom prst="rect">
            <a:avLst/>
          </a:prstGeom>
          <a:noFill/>
          <a:ln>
            <a:noFill/>
          </a:ln>
        </p:spPr>
      </p:pic>
      <p:pic>
        <p:nvPicPr>
          <p:cNvPr id="96" name="Google Shape;96;p19"/>
          <p:cNvPicPr preferRelativeResize="0"/>
          <p:nvPr/>
        </p:nvPicPr>
        <p:blipFill rotWithShape="1">
          <a:blip r:embed="rId7">
            <a:alphaModFix/>
          </a:blip>
          <a:srcRect r="49947" b="65691"/>
          <a:stretch/>
        </p:blipFill>
        <p:spPr>
          <a:xfrm>
            <a:off x="4431539" y="1356125"/>
            <a:ext cx="1848999" cy="503925"/>
          </a:xfrm>
          <a:prstGeom prst="rect">
            <a:avLst/>
          </a:prstGeom>
          <a:noFill/>
          <a:ln>
            <a:noFill/>
          </a:ln>
        </p:spPr>
      </p:pic>
      <p:sp>
        <p:nvSpPr>
          <p:cNvPr id="97" name="Google Shape;97;p19"/>
          <p:cNvSpPr txBox="1"/>
          <p:nvPr/>
        </p:nvSpPr>
        <p:spPr>
          <a:xfrm>
            <a:off x="6954410" y="1492541"/>
            <a:ext cx="1729200" cy="1157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4800">
                <a:solidFill>
                  <a:schemeClr val="dk1"/>
                </a:solidFill>
                <a:latin typeface="Oswald"/>
                <a:ea typeface="Oswald"/>
                <a:cs typeface="Oswald"/>
                <a:sym typeface="Oswald"/>
              </a:rPr>
              <a:t>11/12</a:t>
            </a:r>
            <a:endParaRPr sz="4800">
              <a:solidFill>
                <a:schemeClr val="dk1"/>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 </a:t>
            </a:r>
            <a:r>
              <a:rPr lang="en-GB" b="1"/>
              <a:t>Vulkan – наш выбор!</a:t>
            </a:r>
            <a:endParaRPr b="1"/>
          </a:p>
        </p:txBody>
      </p:sp>
      <p:sp>
        <p:nvSpPr>
          <p:cNvPr id="103" name="Google Shape;103;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1200"/>
              </a:spcBef>
              <a:spcAft>
                <a:spcPts val="0"/>
              </a:spcAft>
              <a:buClr>
                <a:schemeClr val="dk1"/>
              </a:buClr>
              <a:buSzPts val="1800"/>
              <a:buChar char="●"/>
            </a:pPr>
            <a:r>
              <a:rPr lang="en-GB" b="1">
                <a:solidFill>
                  <a:schemeClr val="dk1"/>
                </a:solidFill>
              </a:rPr>
              <a:t>Современный</a:t>
            </a:r>
            <a:r>
              <a:rPr lang="en-GB">
                <a:solidFill>
                  <a:schemeClr val="dk1"/>
                </a:solidFill>
              </a:rPr>
              <a:t>: поддерживает новейших GPU-функций, таких как GPU-driven rendering, аппаратная трассировка лучей и пр.;</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Производительный</a:t>
            </a:r>
            <a:r>
              <a:rPr lang="en-GB">
                <a:solidFill>
                  <a:schemeClr val="dk1"/>
                </a:solidFill>
              </a:rPr>
              <a:t>: меньший оверхед от драйвера, прямой контроль над GPU, оптимизирован для многопоточных приложений;</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Кроссплатформенный</a:t>
            </a:r>
            <a:r>
              <a:rPr lang="en-GB">
                <a:solidFill>
                  <a:schemeClr val="dk1"/>
                </a:solidFill>
              </a:rPr>
              <a:t>: поддерживается Windows, Linux, macOS, Android, iOS;</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Гибкий</a:t>
            </a:r>
            <a:r>
              <a:rPr lang="en-GB">
                <a:solidFill>
                  <a:schemeClr val="dk1"/>
                </a:solidFill>
              </a:rPr>
              <a:t>: позволяет точечно управлять памятью и ресурсами GPU;</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Параллелизуемый</a:t>
            </a:r>
            <a:r>
              <a:rPr lang="en-GB">
                <a:solidFill>
                  <a:schemeClr val="dk1"/>
                </a:solidFill>
              </a:rPr>
              <a:t>: умеет эффективно работать в системе с многоядерными процессорами;</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Растровая графика </a:t>
            </a:r>
            <a:endParaRPr b="1"/>
          </a:p>
        </p:txBody>
      </p:sp>
      <p:pic>
        <p:nvPicPr>
          <p:cNvPr id="109" name="Google Shape;109;p21"/>
          <p:cNvPicPr preferRelativeResize="0"/>
          <p:nvPr/>
        </p:nvPicPr>
        <p:blipFill>
          <a:blip r:embed="rId3">
            <a:alphaModFix/>
          </a:blip>
          <a:stretch>
            <a:fillRect/>
          </a:stretch>
        </p:blipFill>
        <p:spPr>
          <a:xfrm>
            <a:off x="976125" y="1440500"/>
            <a:ext cx="3038475" cy="3048000"/>
          </a:xfrm>
          <a:prstGeom prst="rect">
            <a:avLst/>
          </a:prstGeom>
          <a:noFill/>
          <a:ln>
            <a:noFill/>
          </a:ln>
        </p:spPr>
      </p:pic>
      <p:pic>
        <p:nvPicPr>
          <p:cNvPr id="110" name="Google Shape;110;p21"/>
          <p:cNvPicPr preferRelativeResize="0"/>
          <p:nvPr/>
        </p:nvPicPr>
        <p:blipFill>
          <a:blip r:embed="rId4">
            <a:alphaModFix/>
          </a:blip>
          <a:stretch>
            <a:fillRect/>
          </a:stretch>
        </p:blipFill>
        <p:spPr>
          <a:xfrm>
            <a:off x="5121872" y="1605750"/>
            <a:ext cx="2693751" cy="2545549"/>
          </a:xfrm>
          <a:prstGeom prst="rect">
            <a:avLst/>
          </a:prstGeom>
          <a:noFill/>
          <a:ln>
            <a:noFill/>
          </a:ln>
          <a:effectLst>
            <a:outerShdw blurRad="57150" algn="bl" rotWithShape="0">
              <a:srgbClr val="000000">
                <a:alpha val="50000"/>
              </a:srgbClr>
            </a:outerShdw>
          </a:effectLst>
        </p:spPr>
      </p:pic>
      <p:sp>
        <p:nvSpPr>
          <p:cNvPr id="111" name="Google Shape;111;p21"/>
          <p:cNvSpPr/>
          <p:nvPr/>
        </p:nvSpPr>
        <p:spPr>
          <a:xfrm>
            <a:off x="2823275" y="2351675"/>
            <a:ext cx="609900" cy="609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Растровая графика </a:t>
            </a:r>
            <a:endParaRPr b="1"/>
          </a:p>
        </p:txBody>
      </p:sp>
      <p:sp>
        <p:nvSpPr>
          <p:cNvPr id="117" name="Google Shape;117;p22"/>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None/>
            </a:pPr>
            <a:r>
              <a:rPr lang="en-GB">
                <a:solidFill>
                  <a:schemeClr val="dk1"/>
                </a:solidFill>
              </a:rPr>
              <a:t>Каждый пиксель кодирует интенсивность трех компонентов цвета: </a:t>
            </a:r>
            <a:r>
              <a:rPr lang="en-GB">
                <a:solidFill>
                  <a:srgbClr val="FF0000"/>
                </a:solidFill>
              </a:rPr>
              <a:t>красного </a:t>
            </a:r>
            <a:r>
              <a:rPr lang="en-GB">
                <a:solidFill>
                  <a:schemeClr val="dk1"/>
                </a:solidFill>
              </a:rPr>
              <a:t>(</a:t>
            </a:r>
            <a:r>
              <a:rPr lang="en-GB" b="1">
                <a:solidFill>
                  <a:schemeClr val="dk1"/>
                </a:solidFill>
              </a:rPr>
              <a:t>R</a:t>
            </a:r>
            <a:r>
              <a:rPr lang="en-GB">
                <a:solidFill>
                  <a:schemeClr val="dk1"/>
                </a:solidFill>
              </a:rPr>
              <a:t>), </a:t>
            </a:r>
            <a:r>
              <a:rPr lang="en-GB">
                <a:solidFill>
                  <a:srgbClr val="43D900"/>
                </a:solidFill>
              </a:rPr>
              <a:t>зеленого</a:t>
            </a:r>
            <a:r>
              <a:rPr lang="en-GB">
                <a:solidFill>
                  <a:schemeClr val="dk1"/>
                </a:solidFill>
              </a:rPr>
              <a:t> (</a:t>
            </a:r>
            <a:r>
              <a:rPr lang="en-GB" b="1">
                <a:solidFill>
                  <a:schemeClr val="dk1"/>
                </a:solidFill>
              </a:rPr>
              <a:t>G</a:t>
            </a:r>
            <a:r>
              <a:rPr lang="en-GB">
                <a:solidFill>
                  <a:schemeClr val="dk1"/>
                </a:solidFill>
              </a:rPr>
              <a:t>) и </a:t>
            </a:r>
            <a:r>
              <a:rPr lang="en-GB">
                <a:solidFill>
                  <a:srgbClr val="0000FF"/>
                </a:solidFill>
              </a:rPr>
              <a:t>синего </a:t>
            </a:r>
            <a:r>
              <a:rPr lang="en-GB">
                <a:solidFill>
                  <a:schemeClr val="dk1"/>
                </a:solidFill>
              </a:rPr>
              <a:t>(</a:t>
            </a:r>
            <a:r>
              <a:rPr lang="en-GB" b="1">
                <a:solidFill>
                  <a:schemeClr val="dk1"/>
                </a:solidFill>
              </a:rPr>
              <a:t>B</a:t>
            </a:r>
            <a:r>
              <a:rPr lang="en-GB">
                <a:solidFill>
                  <a:schemeClr val="dk1"/>
                </a:solidFill>
              </a:rPr>
              <a:t>).</a:t>
            </a:r>
            <a:endParaRPr>
              <a:solidFill>
                <a:schemeClr val="dk1"/>
              </a:solidFill>
            </a:endParaRPr>
          </a:p>
          <a:p>
            <a:pPr marL="0" lvl="0" indent="0" algn="l" rtl="0">
              <a:spcBef>
                <a:spcPts val="1200"/>
              </a:spcBef>
              <a:spcAft>
                <a:spcPts val="0"/>
              </a:spcAft>
              <a:buNone/>
            </a:pPr>
            <a:r>
              <a:rPr lang="en-GB" b="1" i="1">
                <a:solidFill>
                  <a:schemeClr val="dk1"/>
                </a:solidFill>
              </a:rPr>
              <a:t>Пиксель не является цветным квадратиком, это функция от точки на растровой сетке!</a:t>
            </a:r>
            <a:endParaRPr b="1" i="1">
              <a:solidFill>
                <a:schemeClr val="dk1"/>
              </a:solidFill>
            </a:endParaRPr>
          </a:p>
          <a:p>
            <a:pPr marL="0" lvl="0" indent="0" algn="l" rtl="0">
              <a:spcBef>
                <a:spcPts val="1200"/>
              </a:spcBef>
              <a:spcAft>
                <a:spcPts val="0"/>
              </a:spcAft>
              <a:buNone/>
            </a:pPr>
            <a:r>
              <a:rPr lang="en-GB">
                <a:solidFill>
                  <a:schemeClr val="dk1"/>
                </a:solidFill>
              </a:rPr>
              <a:t>Для каждого пикселя в изображении аллоцируется некоторое количество бит, эти биты разделяются между тремя компонентами интенсивности – </a:t>
            </a:r>
            <a:r>
              <a:rPr lang="en-GB" b="1" i="1">
                <a:solidFill>
                  <a:schemeClr val="dk1"/>
                </a:solidFill>
              </a:rPr>
              <a:t>глубина цвета.</a:t>
            </a:r>
            <a:endParaRPr b="1" i="1">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8-битный цвет</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15/16-битный цвет (</a:t>
            </a:r>
            <a:r>
              <a:rPr lang="en-GB" b="1">
                <a:solidFill>
                  <a:schemeClr val="dk1"/>
                </a:solidFill>
              </a:rPr>
              <a:t>high</a:t>
            </a:r>
            <a:r>
              <a:rPr lang="en-GB">
                <a:solidFill>
                  <a:schemeClr val="dk1"/>
                </a:solidFill>
              </a:rPr>
              <a:t> color)</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24-битный цвет (</a:t>
            </a:r>
            <a:r>
              <a:rPr lang="en-GB" b="1">
                <a:solidFill>
                  <a:schemeClr val="dk1"/>
                </a:solidFill>
              </a:rPr>
              <a:t>true</a:t>
            </a:r>
            <a:r>
              <a:rPr lang="en-GB">
                <a:solidFill>
                  <a:schemeClr val="dk1"/>
                </a:solidFill>
              </a:rPr>
              <a:t> color)</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30/36/48-битный цвет (</a:t>
            </a:r>
            <a:r>
              <a:rPr lang="en-GB" b="1">
                <a:solidFill>
                  <a:schemeClr val="dk1"/>
                </a:solidFill>
              </a:rPr>
              <a:t>deep</a:t>
            </a:r>
            <a:r>
              <a:rPr lang="en-GB">
                <a:solidFill>
                  <a:schemeClr val="dk1"/>
                </a:solidFill>
              </a:rPr>
              <a:t> color)</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Глубина цвета</a:t>
            </a:r>
            <a:endParaRPr b="1"/>
          </a:p>
        </p:txBody>
      </p:sp>
      <p:pic>
        <p:nvPicPr>
          <p:cNvPr id="123" name="Google Shape;123;p23"/>
          <p:cNvPicPr preferRelativeResize="0"/>
          <p:nvPr/>
        </p:nvPicPr>
        <p:blipFill>
          <a:blip r:embed="rId3">
            <a:alphaModFix/>
          </a:blip>
          <a:stretch>
            <a:fillRect/>
          </a:stretch>
        </p:blipFill>
        <p:spPr>
          <a:xfrm>
            <a:off x="728350" y="1244525"/>
            <a:ext cx="3146600" cy="786650"/>
          </a:xfrm>
          <a:prstGeom prst="rect">
            <a:avLst/>
          </a:prstGeom>
          <a:noFill/>
          <a:ln>
            <a:noFill/>
          </a:ln>
        </p:spPr>
      </p:pic>
      <p:pic>
        <p:nvPicPr>
          <p:cNvPr id="124" name="Google Shape;124;p23"/>
          <p:cNvPicPr preferRelativeResize="0"/>
          <p:nvPr/>
        </p:nvPicPr>
        <p:blipFill>
          <a:blip r:embed="rId4">
            <a:alphaModFix/>
          </a:blip>
          <a:stretch>
            <a:fillRect/>
          </a:stretch>
        </p:blipFill>
        <p:spPr>
          <a:xfrm>
            <a:off x="728350" y="2209750"/>
            <a:ext cx="3146600" cy="2812425"/>
          </a:xfrm>
          <a:prstGeom prst="rect">
            <a:avLst/>
          </a:prstGeom>
          <a:noFill/>
          <a:ln>
            <a:noFill/>
          </a:ln>
        </p:spPr>
      </p:pic>
      <p:pic>
        <p:nvPicPr>
          <p:cNvPr id="125" name="Google Shape;125;p23"/>
          <p:cNvPicPr preferRelativeResize="0"/>
          <p:nvPr/>
        </p:nvPicPr>
        <p:blipFill>
          <a:blip r:embed="rId5">
            <a:alphaModFix/>
          </a:blip>
          <a:stretch>
            <a:fillRect/>
          </a:stretch>
        </p:blipFill>
        <p:spPr>
          <a:xfrm>
            <a:off x="4572000" y="1244525"/>
            <a:ext cx="3777650" cy="3777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Пиксели в памяти (формирование цвета)</a:t>
            </a:r>
            <a:endParaRPr b="1"/>
          </a:p>
          <a:p>
            <a:pPr marL="0" lvl="0" indent="0" algn="l" rtl="0">
              <a:spcBef>
                <a:spcPts val="0"/>
              </a:spcBef>
              <a:spcAft>
                <a:spcPts val="0"/>
              </a:spcAft>
              <a:buNone/>
            </a:pPr>
            <a:endParaRPr b="1"/>
          </a:p>
        </p:txBody>
      </p:sp>
      <p:sp>
        <p:nvSpPr>
          <p:cNvPr id="131" name="Google Shape;131;p24"/>
          <p:cNvSpPr txBox="1">
            <a:spLocks noGrp="1"/>
          </p:cNvSpPr>
          <p:nvPr>
            <p:ph type="body" idx="1"/>
          </p:nvPr>
        </p:nvSpPr>
        <p:spPr>
          <a:xfrm>
            <a:off x="311700" y="1152475"/>
            <a:ext cx="8520600" cy="3862200"/>
          </a:xfrm>
          <a:prstGeom prst="rect">
            <a:avLst/>
          </a:prstGeom>
        </p:spPr>
        <p:txBody>
          <a:bodyPr spcFirstLastPara="1" wrap="square" lIns="91425" tIns="91425" rIns="91425" bIns="91425" anchor="t" anchorCtr="0">
            <a:normAutofit lnSpcReduction="10000"/>
          </a:bodyPr>
          <a:lstStyle/>
          <a:p>
            <a:pPr marL="457200" lvl="0" indent="-342900" algn="l" rtl="0">
              <a:spcBef>
                <a:spcPts val="1200"/>
              </a:spcBef>
              <a:spcAft>
                <a:spcPts val="0"/>
              </a:spcAft>
              <a:buClr>
                <a:schemeClr val="dk1"/>
              </a:buClr>
              <a:buSzPts val="1800"/>
              <a:buChar char="●"/>
            </a:pPr>
            <a:r>
              <a:rPr lang="en-GB">
                <a:solidFill>
                  <a:schemeClr val="dk1"/>
                </a:solidFill>
              </a:rPr>
              <a:t>Битовые плоскости (древний формат):</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Последовательность компонент, упакованных в машинное слово (interleaved):</a:t>
            </a:r>
            <a:endParaRPr>
              <a:solidFill>
                <a:schemeClr val="dk1"/>
              </a:solidFill>
            </a:endParaRPr>
          </a:p>
          <a:p>
            <a:pPr marL="0" lvl="0" indent="457200" algn="l" rtl="0">
              <a:lnSpc>
                <a:spcPct val="6000"/>
              </a:lnSpc>
              <a:spcBef>
                <a:spcPts val="1200"/>
              </a:spcBef>
              <a:spcAft>
                <a:spcPts val="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a:p>
            <a:pPr marL="0" lvl="0" indent="457200" algn="l" rtl="0">
              <a:lnSpc>
                <a:spcPct val="6000"/>
              </a:lnSpc>
              <a:spcBef>
                <a:spcPts val="1200"/>
              </a:spcBef>
              <a:spcAft>
                <a:spcPts val="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a:p>
            <a:pPr marL="0" lvl="0" indent="457200" algn="l" rtl="0">
              <a:lnSpc>
                <a:spcPct val="6000"/>
              </a:lnSpc>
              <a:spcBef>
                <a:spcPts val="1200"/>
              </a:spcBef>
              <a:spcAft>
                <a:spcPts val="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a:p>
            <a:pPr marL="0" lvl="0" indent="457200" algn="l" rtl="0">
              <a:lnSpc>
                <a:spcPct val="6000"/>
              </a:lnSpc>
              <a:spcBef>
                <a:spcPts val="1200"/>
              </a:spcBef>
              <a:spcAft>
                <a:spcPts val="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a:p>
            <a:pPr marL="0" lvl="0" indent="457200" algn="l" rtl="0">
              <a:lnSpc>
                <a:spcPct val="6000"/>
              </a:lnSpc>
              <a:spcBef>
                <a:spcPts val="1200"/>
              </a:spcBef>
              <a:spcAft>
                <a:spcPts val="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a:p>
            <a:pPr marL="0" lvl="0" indent="457200" algn="l" rtl="0">
              <a:lnSpc>
                <a:spcPct val="6000"/>
              </a:lnSpc>
              <a:spcBef>
                <a:spcPts val="1200"/>
              </a:spcBef>
              <a:spcAft>
                <a:spcPts val="1200"/>
              </a:spcAft>
              <a:buNone/>
            </a:pP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rgbClr val="FF0000"/>
                </a:solidFill>
              </a:rPr>
              <a:t> R</a:t>
            </a:r>
            <a:r>
              <a:rPr lang="en-GB">
                <a:solidFill>
                  <a:srgbClr val="43D900"/>
                </a:solidFill>
              </a:rPr>
              <a:t>G</a:t>
            </a:r>
            <a:r>
              <a:rPr lang="en-GB">
                <a:solidFill>
                  <a:srgbClr val="4A86E8"/>
                </a:solidFill>
              </a:rPr>
              <a:t>B </a:t>
            </a:r>
            <a:r>
              <a:rPr lang="en-GB">
                <a:solidFill>
                  <a:srgbClr val="FF0000"/>
                </a:solidFill>
              </a:rPr>
              <a:t>R</a:t>
            </a:r>
            <a:r>
              <a:rPr lang="en-GB">
                <a:solidFill>
                  <a:srgbClr val="43D900"/>
                </a:solidFill>
              </a:rPr>
              <a:t>G</a:t>
            </a:r>
            <a:r>
              <a:rPr lang="en-GB">
                <a:solidFill>
                  <a:srgbClr val="4A86E8"/>
                </a:solidFill>
              </a:rPr>
              <a:t>B</a:t>
            </a:r>
            <a:endParaRPr>
              <a:solidFill>
                <a:srgbClr val="4A86E8"/>
              </a:solidFill>
            </a:endParaRPr>
          </a:p>
        </p:txBody>
      </p:sp>
      <p:pic>
        <p:nvPicPr>
          <p:cNvPr id="132" name="Google Shape;132;p24"/>
          <p:cNvPicPr preferRelativeResize="0"/>
          <p:nvPr/>
        </p:nvPicPr>
        <p:blipFill>
          <a:blip r:embed="rId3">
            <a:alphaModFix/>
          </a:blip>
          <a:stretch>
            <a:fillRect/>
          </a:stretch>
        </p:blipFill>
        <p:spPr>
          <a:xfrm>
            <a:off x="859771" y="1574900"/>
            <a:ext cx="4013551" cy="1521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b="1"/>
              <a:t>Пиксели в памяти (порядок)</a:t>
            </a:r>
            <a:endParaRPr b="1"/>
          </a:p>
          <a:p>
            <a:pPr marL="0" lvl="0" indent="0" algn="l" rtl="0">
              <a:spcBef>
                <a:spcPts val="0"/>
              </a:spcBef>
              <a:spcAft>
                <a:spcPts val="0"/>
              </a:spcAft>
              <a:buNone/>
            </a:pPr>
            <a:endParaRPr/>
          </a:p>
        </p:txBody>
      </p:sp>
      <p:sp>
        <p:nvSpPr>
          <p:cNvPr id="138" name="Google Shape;138;p25"/>
          <p:cNvSpPr txBox="1">
            <a:spLocks noGrp="1"/>
          </p:cNvSpPr>
          <p:nvPr>
            <p:ph type="body" idx="1"/>
          </p:nvPr>
        </p:nvSpPr>
        <p:spPr>
          <a:xfrm>
            <a:off x="311700" y="1152475"/>
            <a:ext cx="8520600" cy="39180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Clr>
                <a:schemeClr val="dk1"/>
              </a:buClr>
              <a:buSzPts val="1800"/>
              <a:buChar char="●"/>
            </a:pPr>
            <a:r>
              <a:rPr lang="en-GB">
                <a:solidFill>
                  <a:schemeClr val="dk1"/>
                </a:solidFill>
              </a:rPr>
              <a:t>Линейный:</a:t>
            </a:r>
            <a:endParaRPr>
              <a:solidFill>
                <a:schemeClr val="dk1"/>
              </a:solidFill>
            </a:endParaRPr>
          </a:p>
          <a:p>
            <a:pPr marL="457200" lvl="0" indent="0" algn="l" rtl="0">
              <a:spcBef>
                <a:spcPts val="1200"/>
              </a:spcBef>
              <a:spcAft>
                <a:spcPts val="0"/>
              </a:spcAft>
              <a:buNone/>
            </a:pPr>
            <a:r>
              <a:rPr lang="en-GB">
                <a:solidFill>
                  <a:schemeClr val="dk1"/>
                </a:solidFill>
              </a:rPr>
              <a:t>[</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a:t>
            </a:r>
            <a:r>
              <a:rPr lang="en-GB">
                <a:solidFill>
                  <a:srgbClr val="FF0000"/>
                </a:solidFill>
              </a:rPr>
              <a:t> R</a:t>
            </a:r>
            <a:r>
              <a:rPr lang="en-GB">
                <a:solidFill>
                  <a:srgbClr val="43D900"/>
                </a:solidFill>
              </a:rPr>
              <a:t>G</a:t>
            </a:r>
            <a:r>
              <a:rPr lang="en-GB">
                <a:solidFill>
                  <a:srgbClr val="4A86E8"/>
                </a:solidFill>
              </a:rPr>
              <a:t>B</a:t>
            </a:r>
            <a:r>
              <a:rPr lang="en-GB">
                <a:solidFill>
                  <a:schemeClr val="dk1"/>
                </a:solidFill>
              </a:rPr>
              <a:t>,</a:t>
            </a:r>
            <a:r>
              <a:rPr lang="en-GB">
                <a:solidFill>
                  <a:srgbClr val="4A86E8"/>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a:t>
            </a:r>
            <a:r>
              <a:rPr lang="en-GB">
                <a:solidFill>
                  <a:srgbClr val="4A86E8"/>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a:t>
            </a:r>
            <a:r>
              <a:rPr lang="en-GB">
                <a:solidFill>
                  <a:srgbClr val="FF0000"/>
                </a:solidFill>
              </a:rPr>
              <a:t> R</a:t>
            </a:r>
            <a:r>
              <a:rPr lang="en-GB">
                <a:solidFill>
                  <a:srgbClr val="43D900"/>
                </a:solidFill>
              </a:rPr>
              <a:t>G</a:t>
            </a:r>
            <a:r>
              <a:rPr lang="en-GB">
                <a:solidFill>
                  <a:srgbClr val="4A86E8"/>
                </a:solidFill>
              </a:rPr>
              <a:t>B</a:t>
            </a:r>
            <a:r>
              <a:rPr lang="en-GB">
                <a:solidFill>
                  <a:schemeClr val="dk1"/>
                </a:solidFill>
              </a:rPr>
              <a:t>,</a:t>
            </a:r>
            <a:r>
              <a:rPr lang="en-GB">
                <a:solidFill>
                  <a:srgbClr val="4A86E8"/>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a:t>
            </a:r>
            <a:r>
              <a:rPr lang="en-GB">
                <a:solidFill>
                  <a:srgbClr val="4A86E8"/>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 </a:t>
            </a:r>
            <a:r>
              <a:rPr lang="en-GB">
                <a:solidFill>
                  <a:srgbClr val="FF0000"/>
                </a:solidFill>
              </a:rPr>
              <a:t>R</a:t>
            </a:r>
            <a:r>
              <a:rPr lang="en-GB">
                <a:solidFill>
                  <a:srgbClr val="43D900"/>
                </a:solidFill>
              </a:rPr>
              <a:t>G</a:t>
            </a:r>
            <a:r>
              <a:rPr lang="en-GB">
                <a:solidFill>
                  <a:srgbClr val="4A86E8"/>
                </a:solidFill>
              </a:rPr>
              <a:t>B</a:t>
            </a:r>
            <a:r>
              <a:rPr lang="en-GB">
                <a:solidFill>
                  <a:schemeClr val="dk1"/>
                </a:solidFill>
              </a:rPr>
              <a:t>,</a:t>
            </a:r>
            <a:r>
              <a:rPr lang="en-GB">
                <a:solidFill>
                  <a:srgbClr val="FF0000"/>
                </a:solidFill>
              </a:rPr>
              <a:t> R</a:t>
            </a:r>
            <a:r>
              <a:rPr lang="en-GB">
                <a:solidFill>
                  <a:srgbClr val="43D900"/>
                </a:solidFill>
              </a:rPr>
              <a:t>G</a:t>
            </a:r>
            <a:r>
              <a:rPr lang="en-GB">
                <a:solidFill>
                  <a:srgbClr val="4A86E8"/>
                </a:solidFill>
              </a:rPr>
              <a:t>B</a:t>
            </a:r>
            <a:r>
              <a:rPr lang="en-GB">
                <a:solidFill>
                  <a:schemeClr val="dk1"/>
                </a:solidFill>
              </a:rPr>
              <a:t>,</a:t>
            </a:r>
            <a:r>
              <a:rPr lang="en-GB">
                <a:solidFill>
                  <a:srgbClr val="4A86E8"/>
                </a:solidFill>
              </a:rPr>
              <a:t> </a:t>
            </a:r>
            <a:r>
              <a:rPr lang="en-GB">
                <a:solidFill>
                  <a:schemeClr val="dk1"/>
                </a:solidFill>
              </a:rPr>
              <a:t>…]</a:t>
            </a:r>
            <a:endParaRPr>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Кривая Мортона (Z-кривая)</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000"/>
              </a:spcBef>
              <a:spcAft>
                <a:spcPts val="1000"/>
              </a:spcAft>
              <a:buNone/>
            </a:pPr>
            <a:r>
              <a:rPr lang="en-GB">
                <a:solidFill>
                  <a:schemeClr val="dk1"/>
                </a:solidFill>
              </a:rPr>
              <a:t>Преимущество такого кодирования заключается в меньших промахах кэшей при доступе к соседним пикселям в 2D и более измерениях.</a:t>
            </a:r>
            <a:endParaRPr>
              <a:solidFill>
                <a:schemeClr val="dk1"/>
              </a:solidFill>
            </a:endParaRPr>
          </a:p>
        </p:txBody>
      </p:sp>
      <p:pic>
        <p:nvPicPr>
          <p:cNvPr id="139" name="Google Shape;139;p25"/>
          <p:cNvPicPr preferRelativeResize="0"/>
          <p:nvPr/>
        </p:nvPicPr>
        <p:blipFill rotWithShape="1">
          <a:blip r:embed="rId3">
            <a:alphaModFix/>
          </a:blip>
          <a:srcRect b="51091"/>
          <a:stretch/>
        </p:blipFill>
        <p:spPr>
          <a:xfrm>
            <a:off x="775775" y="2653575"/>
            <a:ext cx="3248975" cy="1589050"/>
          </a:xfrm>
          <a:prstGeom prst="rect">
            <a:avLst/>
          </a:prstGeom>
          <a:noFill/>
          <a:ln>
            <a:noFill/>
          </a:ln>
        </p:spPr>
      </p:pic>
      <p:pic>
        <p:nvPicPr>
          <p:cNvPr id="140" name="Google Shape;140;p25"/>
          <p:cNvPicPr preferRelativeResize="0"/>
          <p:nvPr/>
        </p:nvPicPr>
        <p:blipFill rotWithShape="1">
          <a:blip r:embed="rId3">
            <a:alphaModFix/>
          </a:blip>
          <a:srcRect t="53155" b="-2064"/>
          <a:stretch/>
        </p:blipFill>
        <p:spPr>
          <a:xfrm>
            <a:off x="4187000" y="2690775"/>
            <a:ext cx="3248975" cy="1589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Ура, матеша!</a:t>
            </a:r>
            <a:endParaRPr b="1"/>
          </a:p>
        </p:txBody>
      </p:sp>
      <p:sp>
        <p:nvSpPr>
          <p:cNvPr id="146" name="Google Shape;146;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0" lvl="0" indent="0" algn="l" rtl="0">
              <a:spcBef>
                <a:spcPts val="1200"/>
              </a:spcBef>
              <a:spcAft>
                <a:spcPts val="0"/>
              </a:spcAft>
              <a:buNone/>
            </a:pPr>
            <a:r>
              <a:rPr lang="en-GB">
                <a:solidFill>
                  <a:schemeClr val="dk1"/>
                </a:solidFill>
              </a:rPr>
              <a:t>Мы будем использовать линейную алгебру на протяжении всего курса.</a:t>
            </a:r>
            <a:endParaRPr>
              <a:solidFill>
                <a:schemeClr val="dk1"/>
              </a:solidFill>
            </a:endParaRPr>
          </a:p>
          <a:p>
            <a:pPr marL="0" lvl="0" indent="0" algn="l" rtl="0">
              <a:spcBef>
                <a:spcPts val="1200"/>
              </a:spcBef>
              <a:spcAft>
                <a:spcPts val="0"/>
              </a:spcAft>
              <a:buNone/>
            </a:pPr>
            <a:r>
              <a:rPr lang="en-GB">
                <a:solidFill>
                  <a:schemeClr val="dk1"/>
                </a:solidFill>
              </a:rPr>
              <a:t>Почему линейная алгебра так важна в компьютерной графике?</a:t>
            </a:r>
            <a:endParaRPr>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Мощный мостик между геометрией, физикой и прочих сферах в вычислениях</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Если смогли выразить проблему в терминах линейной алгебры, то заставить решить систему линейных уравнений компьютеру не составит труда</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Быстрые и эффективные алгоритмы сделали возможным современную компьютерную графику (обработка изображений и геометрии, физическое моделирование и пр.)</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Векторы</a:t>
            </a:r>
            <a:endParaRPr b="1"/>
          </a:p>
        </p:txBody>
      </p:sp>
      <p:sp>
        <p:nvSpPr>
          <p:cNvPr id="152" name="Google Shape;152;p27"/>
          <p:cNvSpPr txBox="1">
            <a:spLocks noGrp="1"/>
          </p:cNvSpPr>
          <p:nvPr>
            <p:ph type="body" idx="1"/>
          </p:nvPr>
        </p:nvSpPr>
        <p:spPr>
          <a:xfrm>
            <a:off x="311700" y="1152475"/>
            <a:ext cx="8520600" cy="3810000"/>
          </a:xfrm>
          <a:prstGeom prst="rect">
            <a:avLst/>
          </a:prstGeom>
        </p:spPr>
        <p:txBody>
          <a:bodyPr spcFirstLastPara="1" wrap="square" lIns="91425" tIns="91425" rIns="91425" bIns="91425" anchor="t" anchorCtr="0">
            <a:normAutofit fontScale="85000" lnSpcReduction="10000"/>
          </a:bodyPr>
          <a:lstStyle/>
          <a:p>
            <a:pPr marL="457200" lvl="0" indent="-334328" algn="l" rtl="0">
              <a:spcBef>
                <a:spcPts val="1200"/>
              </a:spcBef>
              <a:spcAft>
                <a:spcPts val="0"/>
              </a:spcAft>
              <a:buClr>
                <a:schemeClr val="dk1"/>
              </a:buClr>
              <a:buSzPct val="100000"/>
              <a:buChar char="●"/>
            </a:pPr>
            <a:r>
              <a:rPr lang="en-GB">
                <a:solidFill>
                  <a:schemeClr val="dk1"/>
                </a:solidFill>
              </a:rPr>
              <a:t>Что такое </a:t>
            </a:r>
            <a:r>
              <a:rPr lang="en-GB" b="1">
                <a:solidFill>
                  <a:schemeClr val="dk1"/>
                </a:solidFill>
              </a:rPr>
              <a:t>вектор</a:t>
            </a:r>
            <a:r>
              <a:rPr lang="en-GB">
                <a:solidFill>
                  <a:schemeClr val="dk1"/>
                </a:solidFill>
              </a:rPr>
              <a:t>? </a:t>
            </a:r>
            <a:endParaRPr>
              <a:solidFill>
                <a:schemeClr val="dk1"/>
              </a:solidFill>
            </a:endParaRPr>
          </a:p>
          <a:p>
            <a:pPr marL="457200" lvl="0" indent="-334328" algn="l" rtl="0">
              <a:spcBef>
                <a:spcPts val="0"/>
              </a:spcBef>
              <a:spcAft>
                <a:spcPts val="0"/>
              </a:spcAft>
              <a:buClr>
                <a:schemeClr val="dk1"/>
              </a:buClr>
              <a:buSzPct val="100000"/>
              <a:buChar char="●"/>
            </a:pPr>
            <a:r>
              <a:rPr lang="en-GB">
                <a:solidFill>
                  <a:schemeClr val="dk1"/>
                </a:solidFill>
              </a:rPr>
              <a:t>Интуитивно, вектор это стрелочка, указывающая направление и длину.</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r>
              <a:rPr lang="en-GB">
                <a:solidFill>
                  <a:schemeClr val="dk1"/>
                </a:solidFill>
              </a:rPr>
              <a:t>В компьютерной графике мы работаем со многими структурами данных, которые могут быть не похожи на вектора, например полиномы, изображения, яркость. Но они ведут себя, как вектора, поэтому иметь такую ментальную модель все еще полезно.</a:t>
            </a:r>
            <a:endParaRPr>
              <a:solidFill>
                <a:schemeClr val="dk1"/>
              </a:solidFill>
            </a:endParaRPr>
          </a:p>
        </p:txBody>
      </p:sp>
      <p:cxnSp>
        <p:nvCxnSpPr>
          <p:cNvPr id="153" name="Google Shape;153;p27"/>
          <p:cNvCxnSpPr/>
          <p:nvPr/>
        </p:nvCxnSpPr>
        <p:spPr>
          <a:xfrm rot="10800000" flipH="1">
            <a:off x="3392725" y="2373502"/>
            <a:ext cx="1622100" cy="1034100"/>
          </a:xfrm>
          <a:prstGeom prst="straightConnector1">
            <a:avLst/>
          </a:prstGeom>
          <a:noFill/>
          <a:ln w="76200" cap="flat" cmpd="sng">
            <a:solidFill>
              <a:schemeClr val="dk1"/>
            </a:solidFill>
            <a:prstDash val="solid"/>
            <a:round/>
            <a:headEnd type="none" w="med" len="med"/>
            <a:tailEnd type="triangle" w="med" len="med"/>
          </a:ln>
        </p:spPr>
      </p:cxnSp>
      <p:cxnSp>
        <p:nvCxnSpPr>
          <p:cNvPr id="154" name="Google Shape;154;p27"/>
          <p:cNvCxnSpPr/>
          <p:nvPr/>
        </p:nvCxnSpPr>
        <p:spPr>
          <a:xfrm>
            <a:off x="3429925" y="3400177"/>
            <a:ext cx="1517700" cy="7500"/>
          </a:xfrm>
          <a:prstGeom prst="straightConnector1">
            <a:avLst/>
          </a:prstGeom>
          <a:noFill/>
          <a:ln w="38100" cap="flat" cmpd="sng">
            <a:solidFill>
              <a:schemeClr val="dk1"/>
            </a:solidFill>
            <a:prstDash val="dash"/>
            <a:round/>
            <a:headEnd type="none" w="med" len="med"/>
            <a:tailEnd type="none" w="med" len="med"/>
          </a:ln>
        </p:spPr>
      </p:cxnSp>
      <p:sp>
        <p:nvSpPr>
          <p:cNvPr id="155" name="Google Shape;155;p27"/>
          <p:cNvSpPr/>
          <p:nvPr/>
        </p:nvSpPr>
        <p:spPr>
          <a:xfrm>
            <a:off x="3638400" y="3087575"/>
            <a:ext cx="401700" cy="626400"/>
          </a:xfrm>
          <a:prstGeom prst="arc">
            <a:avLst>
              <a:gd name="adj1" fmla="val 16200000"/>
              <a:gd name="adj2" fmla="val 0"/>
            </a:avLst>
          </a:prstGeom>
          <a:noFill/>
          <a:ln w="3810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6" name="Google Shape;156;p27"/>
          <p:cNvCxnSpPr/>
          <p:nvPr/>
        </p:nvCxnSpPr>
        <p:spPr>
          <a:xfrm rot="10800000">
            <a:off x="4784130" y="2060891"/>
            <a:ext cx="230700" cy="3126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27"/>
          <p:cNvCxnSpPr/>
          <p:nvPr/>
        </p:nvCxnSpPr>
        <p:spPr>
          <a:xfrm rot="10800000">
            <a:off x="3199225" y="3087566"/>
            <a:ext cx="230700" cy="312600"/>
          </a:xfrm>
          <a:prstGeom prst="straightConnector1">
            <a:avLst/>
          </a:prstGeom>
          <a:noFill/>
          <a:ln w="9525" cap="flat" cmpd="sng">
            <a:solidFill>
              <a:schemeClr val="dk2"/>
            </a:solidFill>
            <a:prstDash val="solid"/>
            <a:round/>
            <a:headEnd type="none" w="med" len="med"/>
            <a:tailEnd type="none" w="med" len="med"/>
          </a:ln>
        </p:spPr>
      </p:cxnSp>
      <p:cxnSp>
        <p:nvCxnSpPr>
          <p:cNvPr id="158" name="Google Shape;158;p27"/>
          <p:cNvCxnSpPr/>
          <p:nvPr/>
        </p:nvCxnSpPr>
        <p:spPr>
          <a:xfrm rot="10800000" flipH="1">
            <a:off x="3243925" y="2120600"/>
            <a:ext cx="1569900" cy="1026600"/>
          </a:xfrm>
          <a:prstGeom prst="straightConnector1">
            <a:avLst/>
          </a:prstGeom>
          <a:noFill/>
          <a:ln w="9525" cap="flat" cmpd="sng">
            <a:solidFill>
              <a:schemeClr val="dk2"/>
            </a:solidFill>
            <a:prstDash val="solid"/>
            <a:round/>
            <a:headEnd type="stealth" w="med" len="med"/>
            <a:tailEnd type="stealth" w="med" len="med"/>
          </a:ln>
        </p:spPr>
      </p:cxnSp>
      <p:sp>
        <p:nvSpPr>
          <p:cNvPr id="159" name="Google Shape;159;p27"/>
          <p:cNvSpPr txBox="1"/>
          <p:nvPr/>
        </p:nvSpPr>
        <p:spPr>
          <a:xfrm>
            <a:off x="3742400" y="2269275"/>
            <a:ext cx="401700" cy="52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latin typeface="Courier New"/>
                <a:ea typeface="Courier New"/>
                <a:cs typeface="Courier New"/>
                <a:sym typeface="Courier New"/>
              </a:rPr>
              <a:t>r</a:t>
            </a:r>
            <a:endParaRPr sz="1800">
              <a:solidFill>
                <a:schemeClr val="dk1"/>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Матрицы</a:t>
            </a:r>
            <a:endParaRPr sz="2689" b="1"/>
          </a:p>
        </p:txBody>
      </p:sp>
      <p:sp>
        <p:nvSpPr>
          <p:cNvPr id="165" name="Google Shape;165;p28"/>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solidFill>
                  <a:schemeClr val="dk1"/>
                </a:solidFill>
              </a:rPr>
              <a:t>Матрицами являются упорядоченные записи чисел.</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r>
              <a:rPr lang="en-GB">
                <a:solidFill>
                  <a:schemeClr val="dk1"/>
                </a:solidFill>
              </a:rPr>
              <a:t>Над матрицами определены формальные правила: сложение, умножение на константу, матрицу и пр.</a:t>
            </a:r>
            <a:endParaRPr>
              <a:solidFill>
                <a:schemeClr val="dk1"/>
              </a:solidFill>
            </a:endParaRPr>
          </a:p>
          <a:p>
            <a:pPr marL="0" lvl="0" indent="0" algn="l" rtl="0">
              <a:spcBef>
                <a:spcPts val="1200"/>
              </a:spcBef>
              <a:spcAft>
                <a:spcPts val="1200"/>
              </a:spcAft>
              <a:buNone/>
            </a:pPr>
            <a:r>
              <a:rPr lang="en-GB">
                <a:solidFill>
                  <a:schemeClr val="dk1"/>
                </a:solidFill>
              </a:rPr>
              <a:t>Но самое важное, что нужно знать – </a:t>
            </a:r>
            <a:r>
              <a:rPr lang="en-GB" i="1">
                <a:solidFill>
                  <a:schemeClr val="dk1"/>
                </a:solidFill>
              </a:rPr>
              <a:t>алгебра матриц изоморфна алгебре линейных операторов</a:t>
            </a:r>
            <a:r>
              <a:rPr lang="en-GB">
                <a:solidFill>
                  <a:schemeClr val="dk1"/>
                </a:solidFill>
              </a:rPr>
              <a:t> и оно нам нужно для </a:t>
            </a:r>
            <a:r>
              <a:rPr lang="en-GB" b="1">
                <a:solidFill>
                  <a:schemeClr val="dk1"/>
                </a:solidFill>
              </a:rPr>
              <a:t>преобразований</a:t>
            </a:r>
            <a:r>
              <a:rPr lang="en-GB">
                <a:solidFill>
                  <a:schemeClr val="dk1"/>
                </a:solidFill>
              </a:rPr>
              <a:t>!</a:t>
            </a:r>
            <a:endParaRPr>
              <a:solidFill>
                <a:schemeClr val="dk1"/>
              </a:solidFill>
            </a:endParaRPr>
          </a:p>
        </p:txBody>
      </p:sp>
      <p:pic>
        <p:nvPicPr>
          <p:cNvPr id="166" name="Google Shape;166;p28"/>
          <p:cNvPicPr preferRelativeResize="0"/>
          <p:nvPr/>
        </p:nvPicPr>
        <p:blipFill>
          <a:blip r:embed="rId3">
            <a:alphaModFix/>
          </a:blip>
          <a:stretch>
            <a:fillRect/>
          </a:stretch>
        </p:blipFill>
        <p:spPr>
          <a:xfrm>
            <a:off x="3381375" y="1738313"/>
            <a:ext cx="2381250" cy="1666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Преобразования</a:t>
            </a:r>
            <a:endParaRPr b="1"/>
          </a:p>
        </p:txBody>
      </p:sp>
      <p:pic>
        <p:nvPicPr>
          <p:cNvPr id="172" name="Google Shape;172;p29"/>
          <p:cNvPicPr preferRelativeResize="0"/>
          <p:nvPr/>
        </p:nvPicPr>
        <p:blipFill>
          <a:blip r:embed="rId3">
            <a:alphaModFix/>
          </a:blip>
          <a:stretch>
            <a:fillRect/>
          </a:stretch>
        </p:blipFill>
        <p:spPr>
          <a:xfrm>
            <a:off x="1230900" y="1936650"/>
            <a:ext cx="2381250" cy="1600200"/>
          </a:xfrm>
          <a:prstGeom prst="rect">
            <a:avLst/>
          </a:prstGeom>
          <a:noFill/>
          <a:ln>
            <a:noFill/>
          </a:ln>
        </p:spPr>
      </p:pic>
      <p:pic>
        <p:nvPicPr>
          <p:cNvPr id="173" name="Google Shape;173;p29"/>
          <p:cNvPicPr preferRelativeResize="0"/>
          <p:nvPr/>
        </p:nvPicPr>
        <p:blipFill>
          <a:blip r:embed="rId4">
            <a:alphaModFix/>
          </a:blip>
          <a:stretch>
            <a:fillRect/>
          </a:stretch>
        </p:blipFill>
        <p:spPr>
          <a:xfrm>
            <a:off x="5437250" y="1773100"/>
            <a:ext cx="2081325" cy="2081325"/>
          </a:xfrm>
          <a:prstGeom prst="rect">
            <a:avLst/>
          </a:prstGeom>
          <a:noFill/>
          <a:ln>
            <a:noFill/>
          </a:ln>
        </p:spPr>
      </p:pic>
      <p:pic>
        <p:nvPicPr>
          <p:cNvPr id="174" name="Google Shape;174;p29"/>
          <p:cNvPicPr preferRelativeResize="0"/>
          <p:nvPr/>
        </p:nvPicPr>
        <p:blipFill>
          <a:blip r:embed="rId5">
            <a:alphaModFix/>
          </a:blip>
          <a:stretch>
            <a:fillRect/>
          </a:stretch>
        </p:blipFill>
        <p:spPr>
          <a:xfrm>
            <a:off x="1648925" y="3952500"/>
            <a:ext cx="1342225" cy="656525"/>
          </a:xfrm>
          <a:prstGeom prst="rect">
            <a:avLst/>
          </a:prstGeom>
          <a:noFill/>
          <a:ln>
            <a:noFill/>
          </a:ln>
        </p:spPr>
      </p:pic>
      <p:pic>
        <p:nvPicPr>
          <p:cNvPr id="175" name="Google Shape;175;p29"/>
          <p:cNvPicPr preferRelativeResize="0"/>
          <p:nvPr/>
        </p:nvPicPr>
        <p:blipFill>
          <a:blip r:embed="rId6">
            <a:alphaModFix/>
          </a:blip>
          <a:stretch>
            <a:fillRect/>
          </a:stretch>
        </p:blipFill>
        <p:spPr>
          <a:xfrm>
            <a:off x="5350625" y="3952500"/>
            <a:ext cx="2719889" cy="656525"/>
          </a:xfrm>
          <a:prstGeom prst="rect">
            <a:avLst/>
          </a:prstGeom>
          <a:noFill/>
          <a:ln>
            <a:noFill/>
          </a:ln>
        </p:spPr>
      </p:pic>
      <p:sp>
        <p:nvSpPr>
          <p:cNvPr id="176" name="Google Shape;176;p29"/>
          <p:cNvSpPr txBox="1"/>
          <p:nvPr/>
        </p:nvSpPr>
        <p:spPr>
          <a:xfrm>
            <a:off x="1395900" y="1345600"/>
            <a:ext cx="1735500" cy="42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b="1">
                <a:solidFill>
                  <a:schemeClr val="dk1"/>
                </a:solidFill>
              </a:rPr>
              <a:t>Растяжение</a:t>
            </a:r>
            <a:endParaRPr sz="1800" b="1">
              <a:solidFill>
                <a:schemeClr val="dk1"/>
              </a:solidFill>
            </a:endParaRPr>
          </a:p>
        </p:txBody>
      </p:sp>
      <p:sp>
        <p:nvSpPr>
          <p:cNvPr id="177" name="Google Shape;177;p29"/>
          <p:cNvSpPr txBox="1"/>
          <p:nvPr/>
        </p:nvSpPr>
        <p:spPr>
          <a:xfrm>
            <a:off x="5679350" y="1345600"/>
            <a:ext cx="1735500" cy="42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dk1"/>
                </a:solidFill>
              </a:rPr>
              <a:t>Поворот</a:t>
            </a:r>
            <a:endParaRPr sz="1800" b="1">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Преобразования</a:t>
            </a:r>
            <a:endParaRPr sz="2689" b="1"/>
          </a:p>
        </p:txBody>
      </p:sp>
      <p:sp>
        <p:nvSpPr>
          <p:cNvPr id="183" name="Google Shape;183;p30"/>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solidFill>
                  <a:schemeClr val="dk1"/>
                </a:solidFill>
              </a:rPr>
              <a:t>Кажется забыли </a:t>
            </a:r>
            <a:r>
              <a:rPr lang="en-GB" b="1">
                <a:solidFill>
                  <a:schemeClr val="dk1"/>
                </a:solidFill>
              </a:rPr>
              <a:t>перемещение</a:t>
            </a:r>
            <a:r>
              <a:rPr lang="en-GB">
                <a:solidFill>
                  <a:schemeClr val="dk1"/>
                </a:solidFill>
              </a:rPr>
              <a:t>?.. А как перемещение задать матрицей?</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r>
              <a:rPr lang="en-GB">
                <a:solidFill>
                  <a:schemeClr val="dk1"/>
                </a:solidFill>
              </a:rPr>
              <a:t>Это преобразование </a:t>
            </a:r>
            <a:r>
              <a:rPr lang="en-GB" b="1">
                <a:solidFill>
                  <a:schemeClr val="dk1"/>
                </a:solidFill>
              </a:rPr>
              <a:t>не является линейным</a:t>
            </a:r>
            <a:r>
              <a:rPr lang="en-GB">
                <a:solidFill>
                  <a:schemeClr val="dk1"/>
                </a:solidFill>
              </a:rPr>
              <a:t>!</a:t>
            </a:r>
            <a:endParaRPr>
              <a:solidFill>
                <a:schemeClr val="dk1"/>
              </a:solidFill>
            </a:endParaRPr>
          </a:p>
          <a:p>
            <a:pPr marL="0" lvl="0" indent="0" algn="l" rtl="0">
              <a:spcBef>
                <a:spcPts val="1200"/>
              </a:spcBef>
              <a:spcAft>
                <a:spcPts val="0"/>
              </a:spcAft>
              <a:buNone/>
            </a:pPr>
            <a:r>
              <a:rPr lang="en-GB">
                <a:solidFill>
                  <a:schemeClr val="dk1"/>
                </a:solidFill>
              </a:rPr>
              <a:t>Линейное преобразование:</a:t>
            </a:r>
            <a:r>
              <a:rPr lang="en-GB" sz="2400">
                <a:solidFill>
                  <a:schemeClr val="dk1"/>
                </a:solidFill>
                <a:latin typeface="Times New Roman"/>
                <a:ea typeface="Times New Roman"/>
                <a:cs typeface="Times New Roman"/>
                <a:sym typeface="Times New Roman"/>
              </a:rPr>
              <a:t>  y = Ax</a:t>
            </a:r>
            <a:endParaRPr>
              <a:solidFill>
                <a:schemeClr val="dk1"/>
              </a:solidFill>
            </a:endParaRPr>
          </a:p>
          <a:p>
            <a:pPr marL="0" lvl="0" indent="0" algn="l" rtl="0">
              <a:spcBef>
                <a:spcPts val="1200"/>
              </a:spcBef>
              <a:spcAft>
                <a:spcPts val="1200"/>
              </a:spcAft>
              <a:buNone/>
            </a:pPr>
            <a:r>
              <a:rPr lang="en-GB">
                <a:solidFill>
                  <a:schemeClr val="dk1"/>
                </a:solidFill>
              </a:rPr>
              <a:t>Линейные преобразования всегда отображают начало координат в себя!</a:t>
            </a:r>
            <a:endParaRPr>
              <a:solidFill>
                <a:schemeClr val="dk1"/>
              </a:solidFill>
            </a:endParaRPr>
          </a:p>
        </p:txBody>
      </p:sp>
      <p:pic>
        <p:nvPicPr>
          <p:cNvPr id="184" name="Google Shape;184;p30"/>
          <p:cNvPicPr preferRelativeResize="0"/>
          <p:nvPr/>
        </p:nvPicPr>
        <p:blipFill rotWithShape="1">
          <a:blip r:embed="rId3">
            <a:alphaModFix/>
          </a:blip>
          <a:srcRect l="33677" t="11491" r="36978" b="67727"/>
          <a:stretch/>
        </p:blipFill>
        <p:spPr>
          <a:xfrm>
            <a:off x="3415025" y="1729125"/>
            <a:ext cx="1847949" cy="17453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Аффинные преобразования</a:t>
            </a:r>
            <a:endParaRPr sz="2689" b="1"/>
          </a:p>
        </p:txBody>
      </p:sp>
      <p:sp>
        <p:nvSpPr>
          <p:cNvPr id="190" name="Google Shape;190;p31"/>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solidFill>
                <a:schemeClr val="dk1"/>
              </a:solidFill>
            </a:endParaRPr>
          </a:p>
          <a:p>
            <a:pPr marL="0" lvl="0" indent="0" algn="l" rtl="0">
              <a:spcBef>
                <a:spcPts val="1200"/>
              </a:spcBef>
              <a:spcAft>
                <a:spcPts val="0"/>
              </a:spcAft>
              <a:buNone/>
            </a:pPr>
            <a:r>
              <a:rPr lang="en-GB">
                <a:solidFill>
                  <a:schemeClr val="dk1"/>
                </a:solidFill>
              </a:rPr>
              <a:t>Благодаря этому вектору </a:t>
            </a:r>
            <a:r>
              <a:rPr lang="en-GB" b="1">
                <a:solidFill>
                  <a:schemeClr val="dk1"/>
                </a:solidFill>
              </a:rPr>
              <a:t>b </a:t>
            </a:r>
            <a:r>
              <a:rPr lang="en-GB">
                <a:solidFill>
                  <a:schemeClr val="dk1"/>
                </a:solidFill>
              </a:rPr>
              <a:t>теперь можно сдвигать, но как это представить в виде матрицы? Матрица не включает аддитивные константы.</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r>
              <a:rPr lang="en-GB">
                <a:solidFill>
                  <a:schemeClr val="dk1"/>
                </a:solidFill>
              </a:rPr>
              <a:t>Чтобы представить сдвиг в матричном виде, используют </a:t>
            </a:r>
            <a:r>
              <a:rPr lang="en-GB" b="1">
                <a:solidFill>
                  <a:schemeClr val="dk1"/>
                </a:solidFill>
              </a:rPr>
              <a:t>однородные координаты</a:t>
            </a:r>
            <a:r>
              <a:rPr lang="en-GB">
                <a:solidFill>
                  <a:schemeClr val="dk1"/>
                </a:solidFill>
              </a:rPr>
              <a:t>, где к вектору добавляют еще одну компоненту, которая обычно равна 1.</a:t>
            </a:r>
            <a:endParaRPr>
              <a:solidFill>
                <a:schemeClr val="dk1"/>
              </a:solidFill>
            </a:endParaRPr>
          </a:p>
        </p:txBody>
      </p:sp>
      <p:pic>
        <p:nvPicPr>
          <p:cNvPr id="191" name="Google Shape;191;p31"/>
          <p:cNvPicPr preferRelativeResize="0"/>
          <p:nvPr/>
        </p:nvPicPr>
        <p:blipFill>
          <a:blip r:embed="rId3">
            <a:alphaModFix/>
          </a:blip>
          <a:stretch>
            <a:fillRect/>
          </a:stretch>
        </p:blipFill>
        <p:spPr>
          <a:xfrm>
            <a:off x="429050" y="1196175"/>
            <a:ext cx="2621675" cy="369500"/>
          </a:xfrm>
          <a:prstGeom prst="rect">
            <a:avLst/>
          </a:prstGeom>
          <a:noFill/>
          <a:ln>
            <a:noFill/>
          </a:ln>
        </p:spPr>
      </p:pic>
      <p:pic>
        <p:nvPicPr>
          <p:cNvPr id="192" name="Google Shape;192;p31"/>
          <p:cNvPicPr preferRelativeResize="0"/>
          <p:nvPr/>
        </p:nvPicPr>
        <p:blipFill>
          <a:blip r:embed="rId4">
            <a:alphaModFix/>
          </a:blip>
          <a:stretch>
            <a:fillRect/>
          </a:stretch>
        </p:blipFill>
        <p:spPr>
          <a:xfrm>
            <a:off x="3014650" y="3786200"/>
            <a:ext cx="3114675" cy="1104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Однородные координаты</a:t>
            </a:r>
            <a:endParaRPr sz="2689" b="1"/>
          </a:p>
        </p:txBody>
      </p:sp>
      <p:sp>
        <p:nvSpPr>
          <p:cNvPr id="198" name="Google Shape;198;p32"/>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Мы будем различать вектора и точки при помощи этой новой координаты:</a:t>
            </a:r>
            <a:endParaRPr>
              <a:solidFill>
                <a:schemeClr val="dk1"/>
              </a:solidFill>
            </a:endParaRPr>
          </a:p>
          <a:p>
            <a:pPr marL="0" lvl="0" indent="0" algn="l" rtl="0">
              <a:spcBef>
                <a:spcPts val="1200"/>
              </a:spcBef>
              <a:spcAft>
                <a:spcPts val="0"/>
              </a:spcAft>
              <a:buNone/>
            </a:pPr>
            <a:r>
              <a:rPr lang="en-GB">
                <a:solidFill>
                  <a:schemeClr val="dk1"/>
                </a:solidFill>
              </a:rPr>
              <a:t>v = (x</a:t>
            </a:r>
            <a:r>
              <a:rPr lang="en-GB" b="1" baseline="-25000">
                <a:solidFill>
                  <a:schemeClr val="dk1"/>
                </a:solidFill>
              </a:rPr>
              <a:t>v</a:t>
            </a:r>
            <a:r>
              <a:rPr lang="en-GB">
                <a:solidFill>
                  <a:schemeClr val="dk1"/>
                </a:solidFill>
              </a:rPr>
              <a:t>, y</a:t>
            </a:r>
            <a:r>
              <a:rPr lang="en-GB" b="1" baseline="-25000">
                <a:solidFill>
                  <a:schemeClr val="dk1"/>
                </a:solidFill>
              </a:rPr>
              <a:t>v</a:t>
            </a:r>
            <a:r>
              <a:rPr lang="en-GB">
                <a:solidFill>
                  <a:schemeClr val="dk1"/>
                </a:solidFill>
              </a:rPr>
              <a:t>, z</a:t>
            </a:r>
            <a:r>
              <a:rPr lang="en-GB" b="1" baseline="-25000">
                <a:solidFill>
                  <a:schemeClr val="dk1"/>
                </a:solidFill>
              </a:rPr>
              <a:t>v</a:t>
            </a:r>
            <a:r>
              <a:rPr lang="en-GB">
                <a:solidFill>
                  <a:schemeClr val="dk1"/>
                </a:solidFill>
              </a:rPr>
              <a:t>, </a:t>
            </a:r>
            <a:r>
              <a:rPr lang="en-GB" b="1">
                <a:solidFill>
                  <a:schemeClr val="dk1"/>
                </a:solidFill>
              </a:rPr>
              <a:t>0</a:t>
            </a:r>
            <a:r>
              <a:rPr lang="en-GB">
                <a:solidFill>
                  <a:schemeClr val="dk1"/>
                </a:solidFill>
              </a:rPr>
              <a:t>) – вектор                     </a:t>
            </a:r>
            <a:r>
              <a:rPr lang="en-GB" b="1">
                <a:solidFill>
                  <a:schemeClr val="dk1"/>
                </a:solidFill>
              </a:rPr>
              <a:t>p</a:t>
            </a:r>
            <a:r>
              <a:rPr lang="en-GB">
                <a:solidFill>
                  <a:schemeClr val="dk1"/>
                </a:solidFill>
              </a:rPr>
              <a:t> = (x</a:t>
            </a:r>
            <a:r>
              <a:rPr lang="en-GB" b="1" baseline="-25000">
                <a:solidFill>
                  <a:schemeClr val="dk1"/>
                </a:solidFill>
              </a:rPr>
              <a:t>p</a:t>
            </a:r>
            <a:r>
              <a:rPr lang="en-GB">
                <a:solidFill>
                  <a:schemeClr val="dk1"/>
                </a:solidFill>
              </a:rPr>
              <a:t>, y</a:t>
            </a:r>
            <a:r>
              <a:rPr lang="en-GB" b="1" baseline="-25000">
                <a:solidFill>
                  <a:schemeClr val="dk1"/>
                </a:solidFill>
              </a:rPr>
              <a:t>p</a:t>
            </a:r>
            <a:r>
              <a:rPr lang="en-GB">
                <a:solidFill>
                  <a:schemeClr val="dk1"/>
                </a:solidFill>
              </a:rPr>
              <a:t>, z</a:t>
            </a:r>
            <a:r>
              <a:rPr lang="en-GB" b="1" baseline="-25000">
                <a:solidFill>
                  <a:schemeClr val="dk1"/>
                </a:solidFill>
              </a:rPr>
              <a:t>p</a:t>
            </a:r>
            <a:r>
              <a:rPr lang="en-GB">
                <a:solidFill>
                  <a:schemeClr val="dk1"/>
                </a:solidFill>
              </a:rPr>
              <a:t>, </a:t>
            </a:r>
            <a:r>
              <a:rPr lang="en-GB" b="1">
                <a:solidFill>
                  <a:schemeClr val="dk1"/>
                </a:solidFill>
              </a:rPr>
              <a:t>1</a:t>
            </a:r>
            <a:r>
              <a:rPr lang="en-GB">
                <a:solidFill>
                  <a:schemeClr val="dk1"/>
                </a:solidFill>
              </a:rPr>
              <a:t>) – точка</a:t>
            </a:r>
            <a:endParaRPr>
              <a:solidFill>
                <a:schemeClr val="dk1"/>
              </a:solidFill>
            </a:endParaRPr>
          </a:p>
          <a:p>
            <a:pPr marL="0" lvl="0" indent="0" algn="l" rtl="0">
              <a:spcBef>
                <a:spcPts val="1200"/>
              </a:spcBef>
              <a:spcAft>
                <a:spcPts val="0"/>
              </a:spcAft>
              <a:buNone/>
            </a:pPr>
            <a:r>
              <a:rPr lang="en-GB" i="1">
                <a:solidFill>
                  <a:schemeClr val="dk1"/>
                </a:solidFill>
              </a:rPr>
              <a:t>Какие операции над ними можно сделать?</a:t>
            </a:r>
            <a:endParaRPr i="1">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r>
              <a:rPr lang="en-GB">
                <a:solidFill>
                  <a:schemeClr val="dk1"/>
                </a:solidFill>
              </a:rPr>
              <a:t>А если к нам вдруг придёт S = (x</a:t>
            </a:r>
            <a:r>
              <a:rPr lang="en-GB" baseline="-25000">
                <a:solidFill>
                  <a:schemeClr val="dk1"/>
                </a:solidFill>
              </a:rPr>
              <a:t>s</a:t>
            </a:r>
            <a:r>
              <a:rPr lang="en-GB">
                <a:solidFill>
                  <a:schemeClr val="dk1"/>
                </a:solidFill>
              </a:rPr>
              <a:t>, y</a:t>
            </a:r>
            <a:r>
              <a:rPr lang="en-GB" baseline="-25000">
                <a:solidFill>
                  <a:schemeClr val="dk1"/>
                </a:solidFill>
              </a:rPr>
              <a:t>s</a:t>
            </a:r>
            <a:r>
              <a:rPr lang="en-GB">
                <a:solidFill>
                  <a:schemeClr val="dk1"/>
                </a:solidFill>
              </a:rPr>
              <a:t>, z</a:t>
            </a:r>
            <a:r>
              <a:rPr lang="en-GB" baseline="-25000">
                <a:solidFill>
                  <a:schemeClr val="dk1"/>
                </a:solidFill>
              </a:rPr>
              <a:t>s</a:t>
            </a:r>
            <a:r>
              <a:rPr lang="en-GB">
                <a:solidFill>
                  <a:schemeClr val="dk1"/>
                </a:solidFill>
              </a:rPr>
              <a:t>, w</a:t>
            </a:r>
            <a:r>
              <a:rPr lang="en-GB" baseline="-25000">
                <a:solidFill>
                  <a:schemeClr val="dk1"/>
                </a:solidFill>
              </a:rPr>
              <a:t>s</a:t>
            </a:r>
            <a:r>
              <a:rPr lang="en-GB">
                <a:solidFill>
                  <a:schemeClr val="dk1"/>
                </a:solidFill>
              </a:rPr>
              <a:t>), то будем трактовать его так:</a:t>
            </a:r>
            <a:endParaRPr>
              <a:solidFill>
                <a:schemeClr val="dk1"/>
              </a:solidFill>
            </a:endParaRPr>
          </a:p>
          <a:p>
            <a:pPr marL="0" lvl="0" indent="0" algn="l" rtl="0">
              <a:spcBef>
                <a:spcPts val="1200"/>
              </a:spcBef>
              <a:spcAft>
                <a:spcPts val="0"/>
              </a:spcAft>
              <a:buNone/>
            </a:pPr>
            <a:r>
              <a:rPr lang="en-GB">
                <a:solidFill>
                  <a:schemeClr val="dk1"/>
                </a:solidFill>
              </a:rPr>
              <a:t>S’ = (x</a:t>
            </a:r>
            <a:r>
              <a:rPr lang="en-GB" baseline="-25000">
                <a:solidFill>
                  <a:schemeClr val="dk1"/>
                </a:solidFill>
              </a:rPr>
              <a:t>s</a:t>
            </a:r>
            <a:r>
              <a:rPr lang="en-GB">
                <a:solidFill>
                  <a:schemeClr val="dk1"/>
                </a:solidFill>
              </a:rPr>
              <a:t> / w</a:t>
            </a:r>
            <a:r>
              <a:rPr lang="en-GB" baseline="-25000">
                <a:solidFill>
                  <a:schemeClr val="dk1"/>
                </a:solidFill>
              </a:rPr>
              <a:t>s</a:t>
            </a:r>
            <a:r>
              <a:rPr lang="en-GB">
                <a:solidFill>
                  <a:schemeClr val="dk1"/>
                </a:solidFill>
              </a:rPr>
              <a:t>, y</a:t>
            </a:r>
            <a:r>
              <a:rPr lang="en-GB" baseline="-25000">
                <a:solidFill>
                  <a:schemeClr val="dk1"/>
                </a:solidFill>
              </a:rPr>
              <a:t>s</a:t>
            </a:r>
            <a:r>
              <a:rPr lang="en-GB">
                <a:solidFill>
                  <a:schemeClr val="dk1"/>
                </a:solidFill>
              </a:rPr>
              <a:t> / w</a:t>
            </a:r>
            <a:r>
              <a:rPr lang="en-GB" baseline="-25000">
                <a:solidFill>
                  <a:schemeClr val="dk1"/>
                </a:solidFill>
              </a:rPr>
              <a:t>s</a:t>
            </a:r>
            <a:r>
              <a:rPr lang="en-GB">
                <a:solidFill>
                  <a:schemeClr val="dk1"/>
                </a:solidFill>
              </a:rPr>
              <a:t>, z</a:t>
            </a:r>
            <a:r>
              <a:rPr lang="en-GB" baseline="-25000">
                <a:solidFill>
                  <a:schemeClr val="dk1"/>
                </a:solidFill>
              </a:rPr>
              <a:t>s</a:t>
            </a:r>
            <a:r>
              <a:rPr lang="en-GB">
                <a:solidFill>
                  <a:schemeClr val="dk1"/>
                </a:solidFill>
              </a:rPr>
              <a:t> / w</a:t>
            </a:r>
            <a:r>
              <a:rPr lang="en-GB" baseline="-25000">
                <a:solidFill>
                  <a:schemeClr val="dk1"/>
                </a:solidFill>
              </a:rPr>
              <a:t>s</a:t>
            </a:r>
            <a:r>
              <a:rPr lang="en-GB">
                <a:solidFill>
                  <a:schemeClr val="dk1"/>
                </a:solidFill>
              </a:rPr>
              <a:t>, 1), потому что вектор с любым другим w</a:t>
            </a:r>
            <a:r>
              <a:rPr lang="en-GB" baseline="-25000">
                <a:solidFill>
                  <a:schemeClr val="dk1"/>
                </a:solidFill>
              </a:rPr>
              <a:t>s</a:t>
            </a:r>
            <a:r>
              <a:rPr lang="en-GB">
                <a:solidFill>
                  <a:schemeClr val="dk1"/>
                </a:solidFill>
              </a:rPr>
              <a:t> мы не определяли.</a:t>
            </a:r>
            <a:endParaRPr>
              <a:solidFill>
                <a:schemeClr val="dk1"/>
              </a:solidFill>
            </a:endParaRPr>
          </a:p>
          <a:p>
            <a:pPr marL="0" lvl="0" indent="0" algn="l" rtl="0">
              <a:spcBef>
                <a:spcPts val="1200"/>
              </a:spcBef>
              <a:spcAft>
                <a:spcPts val="1200"/>
              </a:spcAft>
              <a:buNone/>
            </a:pPr>
            <a:r>
              <a:rPr lang="en-GB">
                <a:solidFill>
                  <a:schemeClr val="dk1"/>
                </a:solidFill>
              </a:rPr>
              <a:t>Мы поймем, зачем это нужно делать, совсем скоро!</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Проекция 3D в 2D</a:t>
            </a:r>
            <a:endParaRPr sz="2689" b="1"/>
          </a:p>
        </p:txBody>
      </p:sp>
      <p:pic>
        <p:nvPicPr>
          <p:cNvPr id="204" name="Google Shape;204;p33"/>
          <p:cNvPicPr preferRelativeResize="0"/>
          <p:nvPr/>
        </p:nvPicPr>
        <p:blipFill>
          <a:blip r:embed="rId3">
            <a:alphaModFix/>
          </a:blip>
          <a:stretch>
            <a:fillRect/>
          </a:stretch>
        </p:blipFill>
        <p:spPr>
          <a:xfrm>
            <a:off x="2201350" y="1132400"/>
            <a:ext cx="4741296" cy="3820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Пространство экрана</a:t>
            </a:r>
            <a:endParaRPr sz="2689" b="1"/>
          </a:p>
        </p:txBody>
      </p:sp>
      <p:pic>
        <p:nvPicPr>
          <p:cNvPr id="210" name="Google Shape;210;p34"/>
          <p:cNvPicPr preferRelativeResize="0"/>
          <p:nvPr/>
        </p:nvPicPr>
        <p:blipFill>
          <a:blip r:embed="rId3">
            <a:alphaModFix/>
          </a:blip>
          <a:stretch>
            <a:fillRect/>
          </a:stretch>
        </p:blipFill>
        <p:spPr>
          <a:xfrm>
            <a:off x="836928" y="1269928"/>
            <a:ext cx="7458651" cy="3584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Канонический объем вида</a:t>
            </a:r>
            <a:endParaRPr b="1"/>
          </a:p>
        </p:txBody>
      </p:sp>
      <p:pic>
        <p:nvPicPr>
          <p:cNvPr id="216" name="Google Shape;216;p35"/>
          <p:cNvPicPr preferRelativeResize="0"/>
          <p:nvPr/>
        </p:nvPicPr>
        <p:blipFill rotWithShape="1">
          <a:blip r:embed="rId3">
            <a:alphaModFix/>
          </a:blip>
          <a:srcRect t="1468"/>
          <a:stretch/>
        </p:blipFill>
        <p:spPr>
          <a:xfrm>
            <a:off x="1348763" y="1119250"/>
            <a:ext cx="6446474" cy="3764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Ортографический объем вида</a:t>
            </a:r>
            <a:endParaRPr b="1"/>
          </a:p>
        </p:txBody>
      </p:sp>
      <p:sp>
        <p:nvSpPr>
          <p:cNvPr id="222" name="Google Shape;222;p36"/>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Нам нужно подогнать канонический объём под размеры экрана или окна.</a:t>
            </a:r>
            <a:endParaRPr>
              <a:solidFill>
                <a:schemeClr val="dk1"/>
              </a:solidFill>
            </a:endParaRPr>
          </a:p>
          <a:p>
            <a:pPr marL="0" lvl="0" indent="0" algn="l" rtl="0">
              <a:spcBef>
                <a:spcPts val="1200"/>
              </a:spcBef>
              <a:spcAft>
                <a:spcPts val="1200"/>
              </a:spcAft>
              <a:buNone/>
            </a:pPr>
            <a:r>
              <a:rPr lang="en-GB">
                <a:solidFill>
                  <a:schemeClr val="dk1"/>
                </a:solidFill>
              </a:rPr>
              <a:t>Требуется сдвинуть и растянуть этот объем, но с сохранением параллельности плоскостей этого объёма, а также сохранением направления просмотра или ориентацией.  </a:t>
            </a:r>
            <a:endParaRPr>
              <a:solidFill>
                <a:schemeClr val="dk1"/>
              </a:solidFill>
            </a:endParaRPr>
          </a:p>
        </p:txBody>
      </p:sp>
      <p:pic>
        <p:nvPicPr>
          <p:cNvPr id="223" name="Google Shape;223;p36"/>
          <p:cNvPicPr preferRelativeResize="0"/>
          <p:nvPr/>
        </p:nvPicPr>
        <p:blipFill>
          <a:blip r:embed="rId3">
            <a:alphaModFix/>
          </a:blip>
          <a:stretch>
            <a:fillRect/>
          </a:stretch>
        </p:blipFill>
        <p:spPr>
          <a:xfrm>
            <a:off x="3877775" y="2344200"/>
            <a:ext cx="4784775" cy="26912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Ортографическая матрица проекции</a:t>
            </a:r>
            <a:endParaRPr b="1"/>
          </a:p>
        </p:txBody>
      </p:sp>
      <p:sp>
        <p:nvSpPr>
          <p:cNvPr id="229" name="Google Shape;229;p37"/>
          <p:cNvSpPr txBox="1">
            <a:spLocks noGrp="1"/>
          </p:cNvSpPr>
          <p:nvPr>
            <p:ph type="body" idx="1"/>
          </p:nvPr>
        </p:nvSpPr>
        <p:spPr>
          <a:xfrm>
            <a:off x="311700" y="1152475"/>
            <a:ext cx="8520600" cy="391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Нам нужна композиция двух матриц: перемещения и растяжения</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230" name="Google Shape;230;p37"/>
          <p:cNvPicPr preferRelativeResize="0"/>
          <p:nvPr/>
        </p:nvPicPr>
        <p:blipFill>
          <a:blip r:embed="rId3">
            <a:alphaModFix/>
          </a:blip>
          <a:stretch>
            <a:fillRect/>
          </a:stretch>
        </p:blipFill>
        <p:spPr>
          <a:xfrm>
            <a:off x="790475" y="1994445"/>
            <a:ext cx="3372851" cy="2230450"/>
          </a:xfrm>
          <a:prstGeom prst="rect">
            <a:avLst/>
          </a:prstGeom>
          <a:noFill/>
          <a:ln>
            <a:noFill/>
          </a:ln>
        </p:spPr>
      </p:pic>
      <p:pic>
        <p:nvPicPr>
          <p:cNvPr id="231" name="Google Shape;231;p37"/>
          <p:cNvPicPr preferRelativeResize="0"/>
          <p:nvPr/>
        </p:nvPicPr>
        <p:blipFill>
          <a:blip r:embed="rId4">
            <a:alphaModFix/>
          </a:blip>
          <a:stretch>
            <a:fillRect/>
          </a:stretch>
        </p:blipFill>
        <p:spPr>
          <a:xfrm>
            <a:off x="5346171" y="1955846"/>
            <a:ext cx="2588805" cy="2230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Матрица перспективной проекции</a:t>
            </a:r>
            <a:endParaRPr b="1"/>
          </a:p>
        </p:txBody>
      </p:sp>
      <p:pic>
        <p:nvPicPr>
          <p:cNvPr id="237" name="Google Shape;237;p38"/>
          <p:cNvPicPr preferRelativeResize="0"/>
          <p:nvPr/>
        </p:nvPicPr>
        <p:blipFill>
          <a:blip r:embed="rId3">
            <a:alphaModFix/>
          </a:blip>
          <a:stretch>
            <a:fillRect/>
          </a:stretch>
        </p:blipFill>
        <p:spPr>
          <a:xfrm>
            <a:off x="2099600" y="1044375"/>
            <a:ext cx="4944793" cy="38209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Матрица перспективной проекции</a:t>
            </a:r>
            <a:endParaRPr b="1"/>
          </a:p>
        </p:txBody>
      </p:sp>
      <p:pic>
        <p:nvPicPr>
          <p:cNvPr id="243" name="Google Shape;243;p39"/>
          <p:cNvPicPr preferRelativeResize="0"/>
          <p:nvPr/>
        </p:nvPicPr>
        <p:blipFill rotWithShape="1">
          <a:blip r:embed="rId3">
            <a:alphaModFix/>
          </a:blip>
          <a:srcRect l="8787" t="51492" r="8943" b="3418"/>
          <a:stretch/>
        </p:blipFill>
        <p:spPr>
          <a:xfrm>
            <a:off x="534475" y="1647425"/>
            <a:ext cx="7934875" cy="2445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Матрица перспективной проекции</a:t>
            </a:r>
            <a:endParaRPr b="1"/>
          </a:p>
        </p:txBody>
      </p:sp>
      <p:pic>
        <p:nvPicPr>
          <p:cNvPr id="249" name="Google Shape;249;p40"/>
          <p:cNvPicPr preferRelativeResize="0"/>
          <p:nvPr/>
        </p:nvPicPr>
        <p:blipFill>
          <a:blip r:embed="rId3">
            <a:alphaModFix/>
          </a:blip>
          <a:stretch>
            <a:fillRect/>
          </a:stretch>
        </p:blipFill>
        <p:spPr>
          <a:xfrm>
            <a:off x="1175325" y="1094650"/>
            <a:ext cx="6793349" cy="382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Матрица перспективной проекции</a:t>
            </a:r>
            <a:endParaRPr b="1"/>
          </a:p>
        </p:txBody>
      </p:sp>
      <p:pic>
        <p:nvPicPr>
          <p:cNvPr id="255" name="Google Shape;255;p41"/>
          <p:cNvPicPr preferRelativeResize="0"/>
          <p:nvPr/>
        </p:nvPicPr>
        <p:blipFill>
          <a:blip r:embed="rId3">
            <a:alphaModFix/>
          </a:blip>
          <a:stretch>
            <a:fillRect/>
          </a:stretch>
        </p:blipFill>
        <p:spPr>
          <a:xfrm>
            <a:off x="2470863" y="1126100"/>
            <a:ext cx="4202278" cy="3820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2"/>
          <p:cNvPicPr preferRelativeResize="0"/>
          <p:nvPr/>
        </p:nvPicPr>
        <p:blipFill>
          <a:blip r:embed="rId3">
            <a:alphaModFix/>
          </a:blip>
          <a:stretch>
            <a:fillRect/>
          </a:stretch>
        </p:blipFill>
        <p:spPr>
          <a:xfrm>
            <a:off x="152400" y="152400"/>
            <a:ext cx="8814375" cy="2475950"/>
          </a:xfrm>
          <a:prstGeom prst="rect">
            <a:avLst/>
          </a:prstGeom>
          <a:noFill/>
          <a:ln>
            <a:noFill/>
          </a:ln>
        </p:spPr>
      </p:pic>
      <p:pic>
        <p:nvPicPr>
          <p:cNvPr id="261" name="Google Shape;261;p42"/>
          <p:cNvPicPr preferRelativeResize="0"/>
          <p:nvPr/>
        </p:nvPicPr>
        <p:blipFill>
          <a:blip r:embed="rId4">
            <a:alphaModFix/>
          </a:blip>
          <a:stretch>
            <a:fillRect/>
          </a:stretch>
        </p:blipFill>
        <p:spPr>
          <a:xfrm>
            <a:off x="152400" y="4069750"/>
            <a:ext cx="8658225" cy="914400"/>
          </a:xfrm>
          <a:prstGeom prst="rect">
            <a:avLst/>
          </a:prstGeom>
          <a:noFill/>
          <a:ln>
            <a:noFill/>
          </a:ln>
        </p:spPr>
      </p:pic>
      <p:sp>
        <p:nvSpPr>
          <p:cNvPr id="262" name="Google Shape;262;p42"/>
          <p:cNvSpPr txBox="1"/>
          <p:nvPr/>
        </p:nvSpPr>
        <p:spPr>
          <a:xfrm>
            <a:off x="293813" y="2883050"/>
            <a:ext cx="8375400" cy="78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3800" b="1">
                <a:solidFill>
                  <a:schemeClr val="dk1"/>
                </a:solidFill>
              </a:rPr>
              <a:t>На этом все, выдыхаем :)</a:t>
            </a:r>
            <a:endParaRPr sz="3800" b="1">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1072</Words>
  <Application>Microsoft Office PowerPoint</Application>
  <PresentationFormat>On-screen Show (16:9)</PresentationFormat>
  <Paragraphs>138</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Oswald</vt:lpstr>
      <vt:lpstr>Nunito</vt:lpstr>
      <vt:lpstr>Times New Roman</vt:lpstr>
      <vt:lpstr>Courier New</vt:lpstr>
      <vt:lpstr>Simple Light</vt:lpstr>
      <vt:lpstr>PowerPoint Presentation</vt:lpstr>
      <vt:lpstr>PowerPoint Presentation</vt:lpstr>
      <vt:lpstr>🤝 Давайте договоримся</vt:lpstr>
      <vt:lpstr>✅ Требования к студентам</vt:lpstr>
      <vt:lpstr>❓ О чём будет курс?</vt:lpstr>
      <vt:lpstr>🗺  Дорожная карта</vt:lpstr>
      <vt:lpstr>На чём программируют графику?</vt:lpstr>
      <vt:lpstr>🌋 Vulkan – наш выбор!</vt:lpstr>
      <vt:lpstr>Растровая графика </vt:lpstr>
      <vt:lpstr>Растровая графика </vt:lpstr>
      <vt:lpstr>Глубина цвета</vt:lpstr>
      <vt:lpstr>Пиксели в памяти (формирование цвета) </vt:lpstr>
      <vt:lpstr>Пиксели в памяти (порядок) </vt:lpstr>
      <vt:lpstr>Ура, матеша!</vt:lpstr>
      <vt:lpstr>Векторы</vt:lpstr>
      <vt:lpstr>Матрицы</vt:lpstr>
      <vt:lpstr>Преобразования</vt:lpstr>
      <vt:lpstr>Преобразования</vt:lpstr>
      <vt:lpstr>Аффинные преобразования</vt:lpstr>
      <vt:lpstr>Однородные координаты</vt:lpstr>
      <vt:lpstr>Проекция 3D в 2D</vt:lpstr>
      <vt:lpstr>Пространство экрана</vt:lpstr>
      <vt:lpstr>Канонический объем вида</vt:lpstr>
      <vt:lpstr>Ортографический объем вида</vt:lpstr>
      <vt:lpstr>Ортографическая матрица проекции</vt:lpstr>
      <vt:lpstr>Матрица перспективной проекции</vt:lpstr>
      <vt:lpstr>Матрица перспективной проекции</vt:lpstr>
      <vt:lpstr>Матрица перспективной проекции</vt:lpstr>
      <vt:lpstr>Матрица перспективной проекции</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User</cp:lastModifiedBy>
  <cp:revision>1</cp:revision>
  <dcterms:modified xsi:type="dcterms:W3CDTF">2026-09-07T04:41:32Z</dcterms:modified>
</cp:coreProperties>
</file>