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3"/>
  </p:notesMasterIdLst>
  <p:sldIdLst>
    <p:sldId id="256" r:id="rId2"/>
    <p:sldId id="283" r:id="rId3"/>
    <p:sldId id="326" r:id="rId4"/>
    <p:sldId id="327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25" r:id="rId21"/>
    <p:sldId id="329" r:id="rId22"/>
    <p:sldId id="330" r:id="rId23"/>
    <p:sldId id="331" r:id="rId24"/>
    <p:sldId id="317" r:id="rId25"/>
    <p:sldId id="320" r:id="rId26"/>
    <p:sldId id="324" r:id="rId27"/>
    <p:sldId id="318" r:id="rId28"/>
    <p:sldId id="319" r:id="rId29"/>
    <p:sldId id="321" r:id="rId30"/>
    <p:sldId id="322" r:id="rId31"/>
    <p:sldId id="323" r:id="rId32"/>
  </p:sldIdLst>
  <p:sldSz cx="9144000" cy="5143500" type="screen16x9"/>
  <p:notesSz cx="6858000" cy="9144000"/>
  <p:embeddedFontLst>
    <p:embeddedFont>
      <p:font typeface="Nunito" panose="020B0604020202020204" charset="0"/>
      <p:regular r:id="rId34"/>
      <p:bold r:id="rId35"/>
      <p:italic r:id="rId36"/>
      <p:boldItalic r:id="rId37"/>
    </p:embeddedFont>
    <p:embeddedFont>
      <p:font typeface="Roboto Mono" panose="020B060402020202020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A1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33" d="100"/>
          <a:sy n="133" d="100"/>
        </p:scale>
        <p:origin x="66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0235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C89F1F38-7D63-31E0-B98C-16926DC64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311D70EF-D78F-8375-0F06-B746AA9DB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0F6907FA-F677-2A86-C9D2-C7E19BCBE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47278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49AE0387-A5D9-B650-D4A5-5DA0613A6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D2B0033A-C26A-6AC3-991E-AEE5491120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AEBAEDD2-43C1-0486-5774-0CA1B2F22A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469985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B82E29B4-776F-1F16-821A-709BCB936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6BC12CCB-065D-55A5-A5EE-096F2AA998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C0B19D1C-32B1-BA5E-A013-F8C8C14FB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385241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735AAD47-09A4-59BF-4D06-362A4161B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049E0BDF-C86F-2696-66C4-3AE25C9E25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21216EEA-F528-82DF-3655-42C601329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62565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92D08869-6F88-9AC6-32D1-DEA49E38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A6B5C91E-D8D4-D981-4E25-806FBC85F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B6DDE66B-B02E-52E2-D745-3AB6C75248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1162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0F5285B2-5573-E2A4-9DAD-CB7E5631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B0799582-3910-D56E-DC4E-6173EF97A3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626E8F14-261E-55DF-B450-EBD7B2CD8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98619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DC85616D-6FDE-2977-8BE6-4DDC3E9EA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7BD4CDFF-1F63-EB30-880D-8D30836027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CC470B0A-651B-FCD7-1BEF-E4FD632B4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019402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4D1AB74-6EDF-F22D-62C8-793F14A4A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D76528CF-0A22-A420-189B-3C0AB3DEB3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922DC467-79B6-F64E-4E97-3756CCBEA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80619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28FAB0A-92DE-8B7E-B3FF-DA245D9F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D86E97D0-64E7-BF80-2805-A71BD3E29B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B51D739D-5F35-F32E-3FA6-8AFFF4D70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87451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F90EA16B-9C5B-229F-2E44-5BAE27DB2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2A9639E4-9AE0-56C5-3857-6740983EEF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887720F5-9074-BE35-CE83-027E3DB493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09123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52D9E91-2EC5-E188-7D20-0B5819F4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A4D0692C-73BD-C406-6C50-38E752E48A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C3FC46DF-0D5C-1E1D-C93D-8D8A5BAD7A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6809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9B36DC87-6380-9E41-803F-462E9A1FD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68ECBAC9-27BD-749B-F3DA-387525CE66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3AA70D28-CD32-60CA-797F-3558B9CD4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3071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C3A78F05-8F52-FF35-2DB1-4609FA7AB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A06AA837-5273-7A9B-1F6B-FE25CFF04E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483DD800-82B9-9B08-8BC8-A53C990D32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142317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FEB4E24-09BB-393C-0CC5-329EACB47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B2BAB862-F4FC-5C5E-9E0F-C9DD3C016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C76AA986-1499-3158-4E9C-F34B6971A1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86580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2CE501D8-D70C-D7EF-8577-4FA8A233B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7B1D4B75-D21A-3F5C-6C68-5CEA1EA380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53E59234-E3C6-FC94-549D-72B5E4186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43501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CC764596-99CA-063E-1809-BEDD2ED0F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2CE649AE-6F56-3011-7F4F-479D2E041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EEA17C06-38A2-97D3-595F-0E4C767F9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25573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B65BB85-9633-B7E0-7FC6-3FA90EAB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A7A0D692-191E-D9D5-2DC0-08A5D88C7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CA894A05-B2E7-779D-B158-83624A9BC7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5802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080A7FE2-70CB-4F24-22CC-425018959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054466F9-F195-BEFB-7912-8C6C437B86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BE20ED87-EFD0-361D-93BC-8CDD401DD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87102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A26BBBFF-1F94-8D64-700D-F7EACB851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E1BDBA94-DFD0-3C75-D6B7-F1FF0CFE29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09CBF025-6420-B675-113C-30230C334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52168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3508426C-D3E3-B666-007F-F22803346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5035637C-E557-59C6-7E91-7855911E6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517BD1FB-8BE4-E93C-63CE-1030D6AEAE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51234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6D1230C1-6E02-6BD8-8F97-2882DB65C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F2137EEE-E578-55CB-75F5-552BAC5620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FB80DFCD-E6EB-12CA-8373-12E1DD0FC0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75224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CDBDBAAA-464E-AA9E-E34E-3E3A1FFB1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D5A63964-787A-1512-A869-61EEF3E553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8FB260FE-392A-9BA1-2E0A-48C1169BE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147728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981F85C1-416B-9424-24A8-2AA5E22F6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AC6964A2-C7DF-2E88-75D4-C6DD73BF9A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7C605F20-3CC8-B4F7-FE03-AFFE7DE44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105341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>
          <a:extLst>
            <a:ext uri="{FF2B5EF4-FFF2-40B4-BE49-F238E27FC236}">
              <a16:creationId xmlns:a16="http://schemas.microsoft.com/office/drawing/2014/main" id="{EFC2B272-81E6-4DB6-DFCF-5FAA0A9B8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fef10b648_0_210:notes">
            <a:extLst>
              <a:ext uri="{FF2B5EF4-FFF2-40B4-BE49-F238E27FC236}">
                <a16:creationId xmlns:a16="http://schemas.microsoft.com/office/drawing/2014/main" id="{03E8FC49-4A37-02F4-287D-B2E41973D4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fef10b648_0_210:notes">
            <a:extLst>
              <a:ext uri="{FF2B5EF4-FFF2-40B4-BE49-F238E27FC236}">
                <a16:creationId xmlns:a16="http://schemas.microsoft.com/office/drawing/2014/main" id="{285FB2C0-1FAC-9656-DA3E-00E80D962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612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14375" cy="247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069750"/>
            <a:ext cx="8658225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293813" y="2675550"/>
            <a:ext cx="8375400" cy="13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800" b="1" noProof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 O M P U T E R    G R A P H I C 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noProof="0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Descriptors and buffers</a:t>
            </a:r>
            <a:endParaRPr lang="ru-RU" sz="3800" noProof="0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9883C-29C2-FBE1-C1A1-A1116EFA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Откуда брать данные</a:t>
            </a:r>
            <a:r>
              <a:rPr lang="en-US" sz="2800" b="1" noProof="0" dirty="0"/>
              <a:t>?</a:t>
            </a:r>
            <a:endParaRPr lang="ru-RU" noProof="0" dirty="0"/>
          </a:p>
        </p:txBody>
      </p:sp>
      <p:sp>
        <p:nvSpPr>
          <p:cNvPr id="3" name="Google Shape;182;p31">
            <a:extLst>
              <a:ext uri="{FF2B5EF4-FFF2-40B4-BE49-F238E27FC236}">
                <a16:creationId xmlns:a16="http://schemas.microsoft.com/office/drawing/2014/main" id="{C3C8C259-00D9-E01A-6F0C-D82A22745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В прошлый раз данные позиции вершин были </a:t>
            </a:r>
            <a:r>
              <a:rPr lang="ru-RU" noProof="0" dirty="0" err="1">
                <a:solidFill>
                  <a:schemeClr val="dk1"/>
                </a:solidFill>
              </a:rPr>
              <a:t>захардкожен</a:t>
            </a:r>
            <a:r>
              <a:rPr lang="ru-RU" dirty="0">
                <a:solidFill>
                  <a:schemeClr val="dk1"/>
                </a:solidFill>
              </a:rPr>
              <a:t>ы в вершинный шейдер, но по-хорошему нам нужно пробросить в шейдер массив из данных.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noProof="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Мы введём две новые концепции – </a:t>
            </a:r>
            <a:r>
              <a:rPr lang="ru-RU" i="1" dirty="0">
                <a:solidFill>
                  <a:schemeClr val="dk1"/>
                </a:solidFill>
              </a:rPr>
              <a:t>вершинные</a:t>
            </a:r>
            <a:r>
              <a:rPr lang="ru-RU" dirty="0">
                <a:solidFill>
                  <a:schemeClr val="dk1"/>
                </a:solidFill>
              </a:rPr>
              <a:t> буферы и </a:t>
            </a:r>
            <a:r>
              <a:rPr lang="ru-RU" i="1" dirty="0">
                <a:solidFill>
                  <a:schemeClr val="dk1"/>
                </a:solidFill>
              </a:rPr>
              <a:t>индексный</a:t>
            </a:r>
            <a:r>
              <a:rPr lang="ru-RU" dirty="0">
                <a:solidFill>
                  <a:schemeClr val="dk1"/>
                </a:solidFill>
              </a:rPr>
              <a:t> буфер.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noProof="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Вершинный буфер содержит все данные или часть данных рисуемых примитивов из которых состоит модель.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noProof="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Индексный буфер всегда содержит целые числа, которые указывают на абсолютные или относительные позиции (по индексам) элементов в вершинных буферах, чтобы не дублировать общие точки в модели. Количество чисел должно быть кратно кол-ву вершин рисуемого примитива (для треугольника = 3).</a:t>
            </a:r>
            <a:endParaRPr lang="ru-RU" noProof="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071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AFDB6-6AD3-6FD1-1D99-253C8DC64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9FCA0-948E-5645-4F2C-2414860A5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Вершинный и индексный буферы</a:t>
            </a:r>
            <a:endParaRPr lang="ru-RU" noProof="0" dirty="0"/>
          </a:p>
        </p:txBody>
      </p:sp>
      <p:pic>
        <p:nvPicPr>
          <p:cNvPr id="6" name="Google Shape;68;p15">
            <a:extLst>
              <a:ext uri="{FF2B5EF4-FFF2-40B4-BE49-F238E27FC236}">
                <a16:creationId xmlns:a16="http://schemas.microsoft.com/office/drawing/2014/main" id="{2087E59C-0A35-6D32-D1F6-71B24F21518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90687" y="1491896"/>
            <a:ext cx="5762625" cy="29622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7427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4A9A0-8EC1-FB9B-ADA4-D6237B7B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3A603-9113-DE84-1528-A9905687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Вершинный и индексный буферы</a:t>
            </a:r>
            <a:endParaRPr lang="ru-RU" noProof="0" dirty="0"/>
          </a:p>
        </p:txBody>
      </p:sp>
      <p:pic>
        <p:nvPicPr>
          <p:cNvPr id="3" name="Google Shape;87;p18">
            <a:extLst>
              <a:ext uri="{FF2B5EF4-FFF2-40B4-BE49-F238E27FC236}">
                <a16:creationId xmlns:a16="http://schemas.microsoft.com/office/drawing/2014/main" id="{DE050D3A-7FCD-8F53-9965-C05306EAD610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64865" y="1240785"/>
            <a:ext cx="7014270" cy="292481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82;p31">
            <a:extLst>
              <a:ext uri="{FF2B5EF4-FFF2-40B4-BE49-F238E27FC236}">
                <a16:creationId xmlns:a16="http://schemas.microsoft.com/office/drawing/2014/main" id="{148195BC-4065-011F-EDE7-AD44AE5FDA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4430109"/>
            <a:ext cx="8520600" cy="5367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i="1" noProof="0" dirty="0">
                <a:solidFill>
                  <a:schemeClr val="dk1"/>
                </a:solidFill>
              </a:rPr>
              <a:t>Заметьте, что некоторые вершины используются в </a:t>
            </a:r>
            <a:r>
              <a:rPr lang="en-US" i="1" noProof="0" dirty="0">
                <a:solidFill>
                  <a:schemeClr val="dk1"/>
                </a:solidFill>
              </a:rPr>
              <a:t>&gt;1 </a:t>
            </a:r>
            <a:r>
              <a:rPr lang="ru-RU" i="1" noProof="0" dirty="0">
                <a:solidFill>
                  <a:schemeClr val="dk1"/>
                </a:solidFill>
              </a:rPr>
              <a:t>треугольнике</a:t>
            </a:r>
            <a:endParaRPr lang="ru-RU" i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766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151B3-7C7A-A4D7-F521-357396707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3979-6ACE-94DC-DCF0-63320C9BE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Вершина может содержать не только позицию</a:t>
            </a:r>
            <a:endParaRPr lang="ru-RU" noProof="0" dirty="0"/>
          </a:p>
        </p:txBody>
      </p:sp>
      <p:sp>
        <p:nvSpPr>
          <p:cNvPr id="3" name="Google Shape;182;p31">
            <a:extLst>
              <a:ext uri="{FF2B5EF4-FFF2-40B4-BE49-F238E27FC236}">
                <a16:creationId xmlns:a16="http://schemas.microsoft.com/office/drawing/2014/main" id="{E8BEFFE8-137E-3751-4683-CC02D0EB35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Вершины помимо </a:t>
            </a:r>
            <a:r>
              <a:rPr lang="ru-RU" i="1" noProof="0" dirty="0">
                <a:solidFill>
                  <a:schemeClr val="dk1"/>
                </a:solidFill>
              </a:rPr>
              <a:t>позиции</a:t>
            </a:r>
            <a:r>
              <a:rPr lang="ru-RU" noProof="0" dirty="0">
                <a:solidFill>
                  <a:schemeClr val="dk1"/>
                </a:solidFill>
              </a:rPr>
              <a:t> могут содержать следующие данные</a:t>
            </a:r>
            <a:r>
              <a:rPr lang="en-US" noProof="0" dirty="0">
                <a:solidFill>
                  <a:schemeClr val="dk1"/>
                </a:solidFill>
              </a:rPr>
              <a:t>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Текстурные координаты (для проецирования изображения)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Цвет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noProof="0" dirty="0">
                <a:solidFill>
                  <a:schemeClr val="dk1"/>
                </a:solidFill>
              </a:rPr>
              <a:t>Нормаль (а также касательная и бинормаль</a:t>
            </a:r>
            <a:r>
              <a:rPr lang="ru-RU" dirty="0">
                <a:solidFill>
                  <a:schemeClr val="dk1"/>
                </a:solidFill>
              </a:rPr>
              <a:t>)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Индексы и веса костей для скелетной анимации</a:t>
            </a:r>
            <a:endParaRPr lang="en-US" dirty="0">
              <a:solidFill>
                <a:schemeClr val="dk1"/>
              </a:solidFill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..всё, что захотите для решения задачи в вашей области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Эти данные называются </a:t>
            </a:r>
            <a:r>
              <a:rPr lang="ru-RU" i="1" dirty="0">
                <a:solidFill>
                  <a:schemeClr val="dk1"/>
                </a:solidFill>
              </a:rPr>
              <a:t>вершинными атрибутами </a:t>
            </a:r>
            <a:r>
              <a:rPr lang="ru-RU" dirty="0">
                <a:solidFill>
                  <a:schemeClr val="dk1"/>
                </a:solidFill>
              </a:rPr>
              <a:t>(</a:t>
            </a:r>
            <a:r>
              <a:rPr lang="en-US" i="1" dirty="0">
                <a:solidFill>
                  <a:schemeClr val="dk1"/>
                </a:solidFill>
              </a:rPr>
              <a:t>vertex attributes</a:t>
            </a:r>
            <a:r>
              <a:rPr lang="en-US" dirty="0">
                <a:solidFill>
                  <a:schemeClr val="dk1"/>
                </a:solidFill>
              </a:rPr>
              <a:t>).</a:t>
            </a:r>
            <a:endParaRPr lang="ru-RU" dirty="0">
              <a:solidFill>
                <a:schemeClr val="dk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BF5A3-2058-ADF9-97B9-ECBBDEB6A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52" y="3883449"/>
            <a:ext cx="2606753" cy="1098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B7F2D7-C77C-B92A-3F3A-ECC4C40A9AD6}"/>
              </a:ext>
            </a:extLst>
          </p:cNvPr>
          <p:cNvSpPr txBox="1"/>
          <p:nvPr/>
        </p:nvSpPr>
        <p:spPr>
          <a:xfrm>
            <a:off x="2897412" y="4155331"/>
            <a:ext cx="3747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ym typeface="Wingdings" panose="05000000000000000000" pitchFamily="2" charset="2"/>
              </a:rPr>
              <a:t> а</a:t>
            </a:r>
            <a:r>
              <a:rPr lang="ru-RU" dirty="0"/>
              <a:t>трибут позиции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B8FC12-C999-8978-570A-02AAB4414BAF}"/>
              </a:ext>
            </a:extLst>
          </p:cNvPr>
          <p:cNvSpPr txBox="1"/>
          <p:nvPr/>
        </p:nvSpPr>
        <p:spPr>
          <a:xfrm>
            <a:off x="2897412" y="4407616"/>
            <a:ext cx="37472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ym typeface="Wingdings" panose="05000000000000000000" pitchFamily="2" charset="2"/>
              </a:rPr>
              <a:t> а</a:t>
            </a:r>
            <a:r>
              <a:rPr lang="ru-RU" dirty="0"/>
              <a:t>трибут цвета</a:t>
            </a:r>
          </a:p>
        </p:txBody>
      </p:sp>
    </p:spTree>
    <p:extLst>
      <p:ext uri="{BB962C8B-B14F-4D97-AF65-F5344CB8AC3E}">
        <p14:creationId xmlns:p14="http://schemas.microsoft.com/office/powerpoint/2010/main" val="3928419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19DFF-AEDC-DB68-B586-3BBC18F07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CF6D9-7675-AA8D-60CD-CC44A102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b="1" noProof="0" dirty="0"/>
              <a:t>Интерполяция данных</a:t>
            </a:r>
            <a:endParaRPr lang="ru-RU" noProof="0" dirty="0"/>
          </a:p>
        </p:txBody>
      </p:sp>
      <p:sp>
        <p:nvSpPr>
          <p:cNvPr id="3" name="Google Shape;182;p31">
            <a:extLst>
              <a:ext uri="{FF2B5EF4-FFF2-40B4-BE49-F238E27FC236}">
                <a16:creationId xmlns:a16="http://schemas.microsoft.com/office/drawing/2014/main" id="{80002415-268C-0C54-D84B-DC5C8BE6EB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Поскольку рисуемые примитивы задаются ограниченным количеством вершин, то нужен механизм, который позволяет восстанавливать</a:t>
            </a:r>
            <a:r>
              <a:rPr lang="en-US" noProof="0" dirty="0">
                <a:solidFill>
                  <a:schemeClr val="dk1"/>
                </a:solidFill>
              </a:rPr>
              <a:t>/</a:t>
            </a:r>
            <a:r>
              <a:rPr lang="ru-RU" noProof="0" dirty="0">
                <a:solidFill>
                  <a:schemeClr val="dk1"/>
                </a:solidFill>
              </a:rPr>
              <a:t>заполнять пустые места..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noProof="0" dirty="0">
                <a:solidFill>
                  <a:schemeClr val="dk1"/>
                </a:solidFill>
              </a:rPr>
              <a:t>Так</a:t>
            </a:r>
            <a:r>
              <a:rPr lang="ru-RU" dirty="0">
                <a:solidFill>
                  <a:schemeClr val="dk1"/>
                </a:solidFill>
              </a:rPr>
              <a:t>ой механизм есть в </a:t>
            </a:r>
            <a:r>
              <a:rPr lang="en-US" dirty="0">
                <a:solidFill>
                  <a:schemeClr val="dk1"/>
                </a:solidFill>
              </a:rPr>
              <a:t>GPU </a:t>
            </a:r>
            <a:r>
              <a:rPr lang="ru-RU" dirty="0">
                <a:solidFill>
                  <a:schemeClr val="dk1"/>
                </a:solidFill>
              </a:rPr>
              <a:t>и он называется </a:t>
            </a:r>
            <a:r>
              <a:rPr lang="ru-RU" i="1" dirty="0">
                <a:solidFill>
                  <a:schemeClr val="dk1"/>
                </a:solidFill>
              </a:rPr>
              <a:t>интерполяцией</a:t>
            </a:r>
            <a:r>
              <a:rPr lang="ru-RU" dirty="0">
                <a:solidFill>
                  <a:schemeClr val="dk1"/>
                </a:solidFill>
              </a:rPr>
              <a:t>. </a:t>
            </a:r>
            <a:r>
              <a:rPr lang="en-US" dirty="0">
                <a:solidFill>
                  <a:schemeClr val="dk1"/>
                </a:solidFill>
              </a:rPr>
              <a:t>GPU </a:t>
            </a:r>
            <a:r>
              <a:rPr lang="ru-RU" dirty="0">
                <a:solidFill>
                  <a:schemeClr val="dk1"/>
                </a:solidFill>
              </a:rPr>
              <a:t>для этого использует барицентрические координаты.</a:t>
            </a:r>
            <a:endParaRPr lang="ru-RU" i="1" noProof="0" dirty="0">
              <a:solidFill>
                <a:schemeClr val="dk1"/>
              </a:solidFill>
            </a:endParaRPr>
          </a:p>
        </p:txBody>
      </p:sp>
      <p:pic>
        <p:nvPicPr>
          <p:cNvPr id="7" name="Google Shape;189;p32">
            <a:extLst>
              <a:ext uri="{FF2B5EF4-FFF2-40B4-BE49-F238E27FC236}">
                <a16:creationId xmlns:a16="http://schemas.microsoft.com/office/drawing/2014/main" id="{33D9F542-2FC8-06CB-63DF-FC652259634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5511" b="5268"/>
          <a:stretch/>
        </p:blipFill>
        <p:spPr>
          <a:xfrm>
            <a:off x="5266093" y="2938527"/>
            <a:ext cx="2857500" cy="1848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9980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90;p32">
            <a:extLst>
              <a:ext uri="{FF2B5EF4-FFF2-40B4-BE49-F238E27FC236}">
                <a16:creationId xmlns:a16="http://schemas.microsoft.com/office/drawing/2014/main" id="{409EACBC-A216-83F2-E0D4-2807816641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5419"/>
          <a:stretch/>
        </p:blipFill>
        <p:spPr>
          <a:xfrm>
            <a:off x="4885989" y="1696974"/>
            <a:ext cx="2857500" cy="220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Барицентрические координаты</a:t>
            </a:r>
            <a:endParaRPr b="1"/>
          </a:p>
        </p:txBody>
      </p:sp>
      <p:sp>
        <p:nvSpPr>
          <p:cNvPr id="196" name="Google Shape;196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9524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 err="1">
                <a:solidFill>
                  <a:schemeClr val="dk1"/>
                </a:solidFill>
              </a:rPr>
              <a:t>Барицентрические</a:t>
            </a:r>
            <a:r>
              <a:rPr lang="en-GB" i="1" dirty="0">
                <a:solidFill>
                  <a:schemeClr val="dk1"/>
                </a:solidFill>
              </a:rPr>
              <a:t> </a:t>
            </a:r>
            <a:r>
              <a:rPr lang="en-GB" i="1" dirty="0" err="1">
                <a:solidFill>
                  <a:schemeClr val="dk1"/>
                </a:solidFill>
              </a:rPr>
              <a:t>координаты</a:t>
            </a:r>
            <a:r>
              <a:rPr lang="en-GB" i="1" dirty="0">
                <a:solidFill>
                  <a:schemeClr val="dk1"/>
                </a:solidFill>
              </a:rPr>
              <a:t> </a:t>
            </a:r>
            <a:r>
              <a:rPr lang="en-GB" dirty="0">
                <a:solidFill>
                  <a:schemeClr val="dk1"/>
                </a:solidFill>
              </a:rPr>
              <a:t>– </a:t>
            </a:r>
            <a:r>
              <a:rPr lang="en-GB" dirty="0" err="1">
                <a:solidFill>
                  <a:schemeClr val="dk1"/>
                </a:solidFill>
              </a:rPr>
              <a:t>это</a:t>
            </a:r>
            <a:r>
              <a:rPr lang="en-GB" dirty="0">
                <a:solidFill>
                  <a:schemeClr val="dk1"/>
                </a:solidFill>
              </a:rPr>
              <a:t> </a:t>
            </a:r>
            <a:r>
              <a:rPr lang="en-GB" dirty="0" err="1">
                <a:solidFill>
                  <a:schemeClr val="dk1"/>
                </a:solidFill>
              </a:rPr>
              <a:t>представление</a:t>
            </a:r>
            <a:r>
              <a:rPr lang="en-GB" dirty="0">
                <a:solidFill>
                  <a:schemeClr val="dk1"/>
                </a:solidFill>
              </a:rPr>
              <a:t> </a:t>
            </a:r>
            <a:r>
              <a:rPr lang="en-GB" dirty="0" err="1">
                <a:solidFill>
                  <a:schemeClr val="dk1"/>
                </a:solidFill>
              </a:rPr>
              <a:t>точки</a:t>
            </a:r>
            <a:r>
              <a:rPr lang="en-GB" dirty="0">
                <a:solidFill>
                  <a:schemeClr val="dk1"/>
                </a:solidFill>
              </a:rPr>
              <a:t> в </a:t>
            </a:r>
            <a:r>
              <a:rPr lang="en-GB" dirty="0" err="1">
                <a:solidFill>
                  <a:schemeClr val="dk1"/>
                </a:solidFill>
              </a:rPr>
              <a:t>треугольнике</a:t>
            </a:r>
            <a:r>
              <a:rPr lang="en-GB" dirty="0">
                <a:solidFill>
                  <a:schemeClr val="dk1"/>
                </a:solidFill>
              </a:rPr>
              <a:t> </a:t>
            </a:r>
            <a:r>
              <a:rPr lang="en-GB" dirty="0" err="1">
                <a:solidFill>
                  <a:schemeClr val="dk1"/>
                </a:solidFill>
              </a:rPr>
              <a:t>путем</a:t>
            </a:r>
            <a:r>
              <a:rPr lang="en-GB" dirty="0">
                <a:solidFill>
                  <a:schemeClr val="dk1"/>
                </a:solidFill>
              </a:rPr>
              <a:t> </a:t>
            </a:r>
            <a:r>
              <a:rPr lang="en-GB" b="1" dirty="0" err="1">
                <a:solidFill>
                  <a:schemeClr val="dk1"/>
                </a:solidFill>
              </a:rPr>
              <a:t>суммирования</a:t>
            </a:r>
            <a:r>
              <a:rPr lang="en-GB" b="1" dirty="0">
                <a:solidFill>
                  <a:schemeClr val="dk1"/>
                </a:solidFill>
              </a:rPr>
              <a:t> </a:t>
            </a:r>
            <a:r>
              <a:rPr lang="en-GB" b="1" dirty="0" err="1">
                <a:solidFill>
                  <a:schemeClr val="dk1"/>
                </a:solidFill>
              </a:rPr>
              <a:t>координат</a:t>
            </a:r>
            <a:r>
              <a:rPr lang="en-GB" b="1" dirty="0">
                <a:solidFill>
                  <a:schemeClr val="dk1"/>
                </a:solidFill>
              </a:rPr>
              <a:t> </a:t>
            </a:r>
            <a:r>
              <a:rPr lang="en-GB" b="1" dirty="0" err="1">
                <a:solidFill>
                  <a:schemeClr val="dk1"/>
                </a:solidFill>
              </a:rPr>
              <a:t>вершин</a:t>
            </a:r>
            <a:r>
              <a:rPr lang="en-GB" b="1" dirty="0">
                <a:solidFill>
                  <a:schemeClr val="dk1"/>
                </a:solidFill>
              </a:rPr>
              <a:t>, </a:t>
            </a:r>
            <a:r>
              <a:rPr lang="en-GB" b="1" dirty="0" err="1">
                <a:solidFill>
                  <a:schemeClr val="dk1"/>
                </a:solidFill>
              </a:rPr>
              <a:t>умноженных</a:t>
            </a:r>
            <a:r>
              <a:rPr lang="en-GB" b="1" dirty="0">
                <a:solidFill>
                  <a:schemeClr val="dk1"/>
                </a:solidFill>
              </a:rPr>
              <a:t> </a:t>
            </a:r>
            <a:r>
              <a:rPr lang="en-GB" b="1" dirty="0" err="1">
                <a:solidFill>
                  <a:schemeClr val="dk1"/>
                </a:solidFill>
              </a:rPr>
              <a:t>на</a:t>
            </a:r>
            <a:r>
              <a:rPr lang="en-GB" b="1" dirty="0">
                <a:solidFill>
                  <a:schemeClr val="dk1"/>
                </a:solidFill>
              </a:rPr>
              <a:t> </a:t>
            </a:r>
            <a:r>
              <a:rPr lang="en-GB" b="1" dirty="0" err="1">
                <a:solidFill>
                  <a:schemeClr val="dk1"/>
                </a:solidFill>
              </a:rPr>
              <a:t>веса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</p:txBody>
      </p:sp>
      <p:pic>
        <p:nvPicPr>
          <p:cNvPr id="197" name="Google Shape;19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8407" y="2267312"/>
            <a:ext cx="3500875" cy="50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3348" y="3070723"/>
            <a:ext cx="3713500" cy="41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BBE53A-121C-E4B6-9AA7-85BC174920DD}"/>
              </a:ext>
            </a:extLst>
          </p:cNvPr>
          <p:cNvSpPr txBox="1"/>
          <p:nvPr/>
        </p:nvSpPr>
        <p:spPr>
          <a:xfrm>
            <a:off x="311700" y="3904049"/>
            <a:ext cx="8520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dirty="0">
                <a:solidFill>
                  <a:schemeClr val="dk1"/>
                </a:solidFill>
              </a:rPr>
              <a:t>Веса (лямбды) являются отношениями площадей каждого треугольника, составленные из интерполируемой точки и вершин треугольника, к площади всего треугольника. </a:t>
            </a:r>
            <a:r>
              <a:rPr lang="ru-RU" sz="1800" i="1" dirty="0">
                <a:solidFill>
                  <a:schemeClr val="dk1"/>
                </a:solidFill>
              </a:rPr>
              <a:t>Для линии это будет буквально обычная линейная интерполяция.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6F790E38-97F6-8FF2-3A00-CB01E5A16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FB261EC2-BCD7-7B25-DB9F-070638A86B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Как разместить данные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196" name="Google Shape;196;p33">
            <a:extLst>
              <a:ext uri="{FF2B5EF4-FFF2-40B4-BE49-F238E27FC236}">
                <a16:creationId xmlns:a16="http://schemas.microsoft.com/office/drawing/2014/main" id="{CC27784D-70CF-32FE-F0CA-C4762700C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1209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dk1"/>
                </a:solidFill>
              </a:rPr>
              <a:t>Данные для атрибутов можно упаковать в разные вершинные буферы или использовать один вершинный буфер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ru-RU" dirty="0">
                <a:solidFill>
                  <a:schemeClr val="dk1"/>
                </a:solidFill>
              </a:rPr>
              <a:t>где чередуются атрибуты, в котором будут последовательно идти структуры вершин.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8272CD-5BF1-CE8E-609D-5B1C7E0B8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197" y="2227661"/>
            <a:ext cx="8843605" cy="21070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C49D97-884E-3D6B-955F-D29DB5553B4E}"/>
              </a:ext>
            </a:extLst>
          </p:cNvPr>
          <p:cNvSpPr txBox="1"/>
          <p:nvPr/>
        </p:nvSpPr>
        <p:spPr>
          <a:xfrm>
            <a:off x="200536" y="4513809"/>
            <a:ext cx="86317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800" i="1" dirty="0">
                <a:solidFill>
                  <a:schemeClr val="dk1"/>
                </a:solidFill>
              </a:rPr>
              <a:t>Будем пользоваться вторым подходом, он простой и требует меньше кода</a:t>
            </a:r>
          </a:p>
        </p:txBody>
      </p:sp>
    </p:spTree>
    <p:extLst>
      <p:ext uri="{BB962C8B-B14F-4D97-AF65-F5344CB8AC3E}">
        <p14:creationId xmlns:p14="http://schemas.microsoft.com/office/powerpoint/2010/main" val="579440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752FFFE-92E9-7E3D-64D8-51F6A6914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BDAE52B8-C512-E58F-7B51-18B08E69EB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Как брать данные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196" name="Google Shape;196;p33">
            <a:extLst>
              <a:ext uri="{FF2B5EF4-FFF2-40B4-BE49-F238E27FC236}">
                <a16:creationId xmlns:a16="http://schemas.microsoft.com/office/drawing/2014/main" id="{E7760A5D-C56E-EBB9-C58C-721190AE0E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1209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dk1"/>
                </a:solidFill>
              </a:rPr>
              <a:t>В предыдущей лекции, в который мы описывали графический конвейер, был оставлен пустым описатель стадии </a:t>
            </a:r>
            <a:r>
              <a:rPr lang="en-US" dirty="0">
                <a:solidFill>
                  <a:schemeClr val="dk1"/>
                </a:solidFill>
              </a:rPr>
              <a:t>input assembly, </a:t>
            </a:r>
            <a:r>
              <a:rPr lang="ru-RU" dirty="0">
                <a:solidFill>
                  <a:schemeClr val="dk1"/>
                </a:solidFill>
              </a:rPr>
              <a:t>который формирует примитив для вершинного шейдера. Теперь мы его должны заполнить.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B72206-4198-F21D-AFF4-9C64C11A6B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222669"/>
            <a:ext cx="7921214" cy="1473048"/>
          </a:xfrm>
          <a:prstGeom prst="rect">
            <a:avLst/>
          </a:prstGeom>
        </p:spPr>
      </p:pic>
      <p:sp>
        <p:nvSpPr>
          <p:cNvPr id="4" name="Google Shape;196;p33">
            <a:extLst>
              <a:ext uri="{FF2B5EF4-FFF2-40B4-BE49-F238E27FC236}">
                <a16:creationId xmlns:a16="http://schemas.microsoft.com/office/drawing/2014/main" id="{32E23D25-8562-A614-601F-3EA944A896CA}"/>
              </a:ext>
            </a:extLst>
          </p:cNvPr>
          <p:cNvSpPr txBox="1">
            <a:spLocks/>
          </p:cNvSpPr>
          <p:nvPr/>
        </p:nvSpPr>
        <p:spPr>
          <a:xfrm>
            <a:off x="277634" y="3772453"/>
            <a:ext cx="8520600" cy="1303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dk1"/>
                </a:solidFill>
              </a:rPr>
              <a:t>Vertex bindings </a:t>
            </a:r>
            <a:r>
              <a:rPr lang="ru-RU" sz="1600" dirty="0">
                <a:solidFill>
                  <a:schemeClr val="dk1"/>
                </a:solidFill>
              </a:rPr>
              <a:t>описывает из каких буферов брать данные</a:t>
            </a:r>
            <a:r>
              <a:rPr lang="en-US" sz="1600" dirty="0">
                <a:solidFill>
                  <a:schemeClr val="dk1"/>
                </a:solidFill>
              </a:rPr>
              <a:t>: </a:t>
            </a:r>
            <a:r>
              <a:rPr lang="ru-RU" sz="1600" dirty="0">
                <a:solidFill>
                  <a:schemeClr val="dk1"/>
                </a:solidFill>
              </a:rPr>
              <a:t>размер в байтах данных для одного примитива и индексы привязки буферов.</a:t>
            </a:r>
          </a:p>
          <a:p>
            <a:pPr marL="0" indent="0">
              <a:buFont typeface="Arial"/>
              <a:buNone/>
            </a:pPr>
            <a:r>
              <a:rPr lang="en-US" sz="1600" dirty="0">
                <a:solidFill>
                  <a:schemeClr val="dk1"/>
                </a:solidFill>
              </a:rPr>
              <a:t>Vertex attributes </a:t>
            </a:r>
            <a:r>
              <a:rPr lang="ru-RU" sz="1600" dirty="0">
                <a:solidFill>
                  <a:schemeClr val="dk1"/>
                </a:solidFill>
              </a:rPr>
              <a:t>описывает атрибуты и вершин</a:t>
            </a:r>
            <a:r>
              <a:rPr lang="en-US" sz="1600" dirty="0">
                <a:solidFill>
                  <a:schemeClr val="dk1"/>
                </a:solidFill>
              </a:rPr>
              <a:t>: </a:t>
            </a:r>
            <a:r>
              <a:rPr lang="ru-RU" sz="1600" dirty="0">
                <a:solidFill>
                  <a:schemeClr val="dk1"/>
                </a:solidFill>
              </a:rPr>
              <a:t>их типы данных, из какого буфера брать значения для них</a:t>
            </a:r>
            <a:r>
              <a:rPr lang="en-US" sz="1600" dirty="0">
                <a:solidFill>
                  <a:schemeClr val="dk1"/>
                </a:solidFill>
              </a:rPr>
              <a:t>, </a:t>
            </a:r>
            <a:r>
              <a:rPr lang="ru-RU" sz="1600" dirty="0">
                <a:solidFill>
                  <a:schemeClr val="dk1"/>
                </a:solidFill>
              </a:rPr>
              <a:t>индексы объявления в вершинном шейдере </a:t>
            </a:r>
            <a:r>
              <a:rPr lang="en-US" sz="1600" dirty="0">
                <a:solidFill>
                  <a:schemeClr val="dk1"/>
                </a:solidFill>
              </a:rPr>
              <a:t>(location)</a:t>
            </a:r>
            <a:r>
              <a:rPr lang="ru-RU" sz="1600" dirty="0">
                <a:solidFill>
                  <a:schemeClr val="dk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3672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72FB66C-FF9A-A2C3-CA3B-89A2DBE9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F72D9B81-BC8C-38EB-6C52-4CD71540C7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Как брать данные</a:t>
            </a:r>
            <a:r>
              <a:rPr lang="en-US" b="1" dirty="0"/>
              <a:t>?</a:t>
            </a:r>
            <a:endParaRPr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797C44-7254-CE6E-D9EB-3A8A4E8EA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50" y="2540484"/>
            <a:ext cx="6600855" cy="1855808"/>
          </a:xfrm>
          <a:prstGeom prst="rect">
            <a:avLst/>
          </a:prstGeom>
        </p:spPr>
      </p:pic>
      <p:pic>
        <p:nvPicPr>
          <p:cNvPr id="8" name="Google Shape;62;p14">
            <a:extLst>
              <a:ext uri="{FF2B5EF4-FFF2-40B4-BE49-F238E27FC236}">
                <a16:creationId xmlns:a16="http://schemas.microsoft.com/office/drawing/2014/main" id="{3FDA7A44-BF37-9375-7133-2D0A18F28FD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l="1" r="65743" b="65165"/>
          <a:stretch>
            <a:fillRect/>
          </a:stretch>
        </p:blipFill>
        <p:spPr>
          <a:xfrm>
            <a:off x="5832710" y="3686174"/>
            <a:ext cx="3028006" cy="1289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DEBA46-0F33-5EF9-D33C-B969054CB5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700" y="1253172"/>
            <a:ext cx="2606753" cy="10987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955325C-66D2-53C5-F0D9-8F075430EABB}"/>
              </a:ext>
            </a:extLst>
          </p:cNvPr>
          <p:cNvSpPr txBox="1"/>
          <p:nvPr/>
        </p:nvSpPr>
        <p:spPr>
          <a:xfrm>
            <a:off x="2590800" y="3062502"/>
            <a:ext cx="6675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Индекс буфера, по которому будут браться данные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2FC1DB-DDD1-54A3-DFC3-544780ECE2AC}"/>
              </a:ext>
            </a:extLst>
          </p:cNvPr>
          <p:cNvSpPr txBox="1"/>
          <p:nvPr/>
        </p:nvSpPr>
        <p:spPr>
          <a:xfrm>
            <a:off x="3811793" y="3314499"/>
            <a:ext cx="5332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Размер данных в байтах одного примитива</a:t>
            </a:r>
            <a:endParaRPr lang="ru-RU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1797F8-2DCE-1752-0602-5502E7D103B4}"/>
              </a:ext>
            </a:extLst>
          </p:cNvPr>
          <p:cNvSpPr txBox="1"/>
          <p:nvPr/>
        </p:nvSpPr>
        <p:spPr>
          <a:xfrm>
            <a:off x="1151068" y="3834718"/>
            <a:ext cx="439270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GPU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будет сдвигать указатель этого буфера после каждого чтения вершины</a:t>
            </a:r>
            <a:endParaRPr lang="ru-RU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461110E7-A808-9627-F4EA-858CA6C2B840}"/>
              </a:ext>
            </a:extLst>
          </p:cNvPr>
          <p:cNvCxnSpPr>
            <a:cxnSpLocks/>
          </p:cNvCxnSpPr>
          <p:nvPr/>
        </p:nvCxnSpPr>
        <p:spPr>
          <a:xfrm>
            <a:off x="1151068" y="3216390"/>
            <a:ext cx="4708264" cy="634627"/>
          </a:xfrm>
          <a:prstGeom prst="bentConnector3">
            <a:avLst>
              <a:gd name="adj1" fmla="val -11919"/>
            </a:avLst>
          </a:prstGeom>
          <a:ln w="28575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157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66625EC-C1DB-DC87-A584-B7CAD5090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64AC5431-3AD2-4266-F778-6CB6889F3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Как брать данные</a:t>
            </a:r>
            <a:r>
              <a:rPr lang="en-US" b="1" dirty="0"/>
              <a:t>?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D4C884-D4B0-3DAE-9C68-CF483750F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70638"/>
            <a:ext cx="6896644" cy="3698634"/>
          </a:xfrm>
          <a:prstGeom prst="rect">
            <a:avLst/>
          </a:prstGeom>
        </p:spPr>
      </p:pic>
      <p:pic>
        <p:nvPicPr>
          <p:cNvPr id="4" name="Google Shape;62;p14">
            <a:extLst>
              <a:ext uri="{FF2B5EF4-FFF2-40B4-BE49-F238E27FC236}">
                <a16:creationId xmlns:a16="http://schemas.microsoft.com/office/drawing/2014/main" id="{0EE87E4B-CD69-8F76-7987-747E12FC1CD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rcRect l="1" r="65743" b="65165"/>
          <a:stretch>
            <a:fillRect/>
          </a:stretch>
        </p:blipFill>
        <p:spPr>
          <a:xfrm>
            <a:off x="5744362" y="3386598"/>
            <a:ext cx="3028006" cy="1289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6ADBA5-96C4-1009-AF87-860B6779B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4967" y="1862152"/>
            <a:ext cx="2606753" cy="109877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466C38-39E5-88D9-175F-5A4E782B352B}"/>
              </a:ext>
            </a:extLst>
          </p:cNvPr>
          <p:cNvCxnSpPr>
            <a:cxnSpLocks/>
          </p:cNvCxnSpPr>
          <p:nvPr/>
        </p:nvCxnSpPr>
        <p:spPr>
          <a:xfrm flipV="1">
            <a:off x="2659270" y="3586922"/>
            <a:ext cx="3118678" cy="198782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3C575ED-146A-448E-C580-650990A9C349}"/>
              </a:ext>
            </a:extLst>
          </p:cNvPr>
          <p:cNvCxnSpPr>
            <a:cxnSpLocks/>
          </p:cNvCxnSpPr>
          <p:nvPr/>
        </p:nvCxnSpPr>
        <p:spPr>
          <a:xfrm>
            <a:off x="2659270" y="2226365"/>
            <a:ext cx="3118678" cy="1263374"/>
          </a:xfrm>
          <a:prstGeom prst="bentConnector3">
            <a:avLst>
              <a:gd name="adj1" fmla="val 89377"/>
            </a:avLst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AB914936-CC02-33BC-E55A-03370DB37581}"/>
              </a:ext>
            </a:extLst>
          </p:cNvPr>
          <p:cNvCxnSpPr/>
          <p:nvPr/>
        </p:nvCxnSpPr>
        <p:spPr>
          <a:xfrm flipV="1">
            <a:off x="5216939" y="2274956"/>
            <a:ext cx="1082261" cy="441740"/>
          </a:xfrm>
          <a:prstGeom prst="bentConnector3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D3431E3-C101-47C0-56AA-A729E2BEAC4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917977" y="2984024"/>
            <a:ext cx="1764572" cy="895853"/>
          </a:xfrm>
          <a:prstGeom prst="bentConnector3">
            <a:avLst>
              <a:gd name="adj1" fmla="val 100068"/>
            </a:avLst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D0C5D3B-E2BE-CBC7-4BC4-EE26B1615DA0}"/>
              </a:ext>
            </a:extLst>
          </p:cNvPr>
          <p:cNvCxnSpPr/>
          <p:nvPr/>
        </p:nvCxnSpPr>
        <p:spPr>
          <a:xfrm flipH="1">
            <a:off x="4903304" y="4314237"/>
            <a:ext cx="449032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235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279AD39D-0FF0-F58D-D661-7305E669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4747C6D8-F976-14BA-129B-D04580487A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Вершинный шейдер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440D8D-FD00-05CC-FD1F-D7B18F966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22513"/>
            <a:ext cx="5915851" cy="37819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0BFDA6-94E8-47CD-15CC-21828B4247F1}"/>
              </a:ext>
            </a:extLst>
          </p:cNvPr>
          <p:cNvSpPr txBox="1"/>
          <p:nvPr/>
        </p:nvSpPr>
        <p:spPr>
          <a:xfrm>
            <a:off x="311700" y="1475831"/>
            <a:ext cx="8386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Входные атрибуты помечаются словом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in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и сопоставляются с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location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99AEB8-E2E1-DEA3-0223-E748A97B2E49}"/>
              </a:ext>
            </a:extLst>
          </p:cNvPr>
          <p:cNvSpPr txBox="1"/>
          <p:nvPr/>
        </p:nvSpPr>
        <p:spPr>
          <a:xfrm>
            <a:off x="311699" y="2463118"/>
            <a:ext cx="86953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Выходные атрибуты для фрагментного шейдера помечаются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out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и требуют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location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17290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B2742B2B-9BD6-09C9-1908-EAFDE6B4C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E050D2F4-3EC3-3B47-EC4E-3ADC374D36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Фрагментный шейдер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1DE667-5B77-1725-7EB6-E3A27DAF9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220853"/>
            <a:ext cx="5677692" cy="30198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0B101A-1B69-CBFA-2207-B21DC9C0AF0F}"/>
              </a:ext>
            </a:extLst>
          </p:cNvPr>
          <p:cNvSpPr txBox="1"/>
          <p:nvPr/>
        </p:nvSpPr>
        <p:spPr>
          <a:xfrm>
            <a:off x="311700" y="1533258"/>
            <a:ext cx="838614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Всё, что вышло из вершинного шейдера, должно зеркалить тип и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location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7019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15B150A-7143-1497-3A16-959DDC46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5FD7689A-E7E4-43E0-A886-211B443EFF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Как положить данные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2" name="Google Shape;196;p33">
            <a:extLst>
              <a:ext uri="{FF2B5EF4-FFF2-40B4-BE49-F238E27FC236}">
                <a16:creationId xmlns:a16="http://schemas.microsoft.com/office/drawing/2014/main" id="{27704DC6-A777-AFE7-26E2-92B2F4D5D0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28806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Последовательность действий, чтобы скопировать данные из </a:t>
            </a:r>
            <a:r>
              <a:rPr lang="en-US" dirty="0">
                <a:solidFill>
                  <a:schemeClr val="dk1"/>
                </a:solidFill>
              </a:rPr>
              <a:t>RAM </a:t>
            </a:r>
            <a:r>
              <a:rPr lang="ru-RU" dirty="0">
                <a:solidFill>
                  <a:schemeClr val="dk1"/>
                </a:solidFill>
              </a:rPr>
              <a:t>в </a:t>
            </a:r>
            <a:r>
              <a:rPr lang="en-US" dirty="0">
                <a:solidFill>
                  <a:schemeClr val="dk1"/>
                </a:solidFill>
              </a:rPr>
              <a:t>VRAM </a:t>
            </a:r>
            <a:r>
              <a:rPr lang="ru-RU" dirty="0">
                <a:solidFill>
                  <a:schemeClr val="dk1"/>
                </a:solidFill>
              </a:rPr>
              <a:t>следующая</a:t>
            </a:r>
            <a:r>
              <a:rPr lang="en-US" dirty="0">
                <a:solidFill>
                  <a:schemeClr val="dk1"/>
                </a:solidFill>
              </a:rPr>
              <a:t>: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Создать объект буфера </a:t>
            </a:r>
            <a:r>
              <a:rPr lang="en-US" dirty="0">
                <a:solidFill>
                  <a:schemeClr val="dk1"/>
                </a:solidFill>
              </a:rPr>
              <a:t>Vulkan (</a:t>
            </a:r>
            <a:r>
              <a:rPr lang="en-US" dirty="0" err="1">
                <a:solidFill>
                  <a:schemeClr val="dk1"/>
                </a:solidFill>
              </a:rPr>
              <a:t>VkBuffer</a:t>
            </a:r>
            <a:r>
              <a:rPr lang="en-US" dirty="0">
                <a:solidFill>
                  <a:schemeClr val="dk1"/>
                </a:solidFill>
              </a:rPr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Выделить </a:t>
            </a:r>
            <a:r>
              <a:rPr lang="en-US" dirty="0">
                <a:solidFill>
                  <a:schemeClr val="dk1"/>
                </a:solidFill>
              </a:rPr>
              <a:t>VRAM </a:t>
            </a:r>
            <a:r>
              <a:rPr lang="ru-RU" dirty="0">
                <a:solidFill>
                  <a:schemeClr val="dk1"/>
                </a:solidFill>
              </a:rPr>
              <a:t>память (получить </a:t>
            </a:r>
            <a:r>
              <a:rPr lang="en-US" dirty="0" err="1">
                <a:solidFill>
                  <a:schemeClr val="dk1"/>
                </a:solidFill>
              </a:rPr>
              <a:t>VkDeviceMemory</a:t>
            </a:r>
            <a:r>
              <a:rPr lang="ru-RU" dirty="0">
                <a:solidFill>
                  <a:schemeClr val="dk1"/>
                </a:solidFill>
              </a:rPr>
              <a:t> или смещение для него)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Получить указатель на память </a:t>
            </a:r>
            <a:r>
              <a:rPr lang="en-US" dirty="0">
                <a:solidFill>
                  <a:schemeClr val="dk1"/>
                </a:solidFill>
              </a:rPr>
              <a:t>VRAM </a:t>
            </a:r>
            <a:r>
              <a:rPr lang="ru-RU" dirty="0">
                <a:solidFill>
                  <a:schemeClr val="dk1"/>
                </a:solidFill>
              </a:rPr>
              <a:t>путём отображения </a:t>
            </a:r>
            <a:r>
              <a:rPr lang="en-US" dirty="0">
                <a:solidFill>
                  <a:schemeClr val="dk1"/>
                </a:solidFill>
              </a:rPr>
              <a:t>(memory mapping)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</a:rPr>
              <a:t>Скопировать массив данных </a:t>
            </a:r>
            <a:r>
              <a:rPr lang="en-US" dirty="0">
                <a:solidFill>
                  <a:schemeClr val="dk1"/>
                </a:solidFill>
              </a:rPr>
              <a:t>(</a:t>
            </a:r>
            <a:r>
              <a:rPr lang="en-US" dirty="0" err="1">
                <a:solidFill>
                  <a:schemeClr val="dk1"/>
                </a:solidFill>
              </a:rPr>
              <a:t>memcpy</a:t>
            </a:r>
            <a:r>
              <a:rPr lang="en-US" dirty="0">
                <a:solidFill>
                  <a:schemeClr val="dk1"/>
                </a:solidFill>
              </a:rPr>
              <a:t> from VRAM to RAM)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1398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EAACFB97-7BCD-6B16-571E-B27E2120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0BA34626-A800-6D36-589B-A217EC9319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Vulkan Memory Allocator</a:t>
            </a:r>
            <a:endParaRPr b="1" dirty="0"/>
          </a:p>
        </p:txBody>
      </p:sp>
      <p:sp>
        <p:nvSpPr>
          <p:cNvPr id="9" name="Google Shape;196;p33">
            <a:extLst>
              <a:ext uri="{FF2B5EF4-FFF2-40B4-BE49-F238E27FC236}">
                <a16:creationId xmlns:a16="http://schemas.microsoft.com/office/drawing/2014/main" id="{2F7E6683-9308-4D81-0320-E63A84E683CA}"/>
              </a:ext>
            </a:extLst>
          </p:cNvPr>
          <p:cNvSpPr txBox="1">
            <a:spLocks/>
          </p:cNvSpPr>
          <p:nvPr/>
        </p:nvSpPr>
        <p:spPr>
          <a:xfrm>
            <a:off x="311700" y="1152474"/>
            <a:ext cx="8520600" cy="3777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ru-RU" dirty="0">
                <a:solidFill>
                  <a:schemeClr val="tx1"/>
                </a:solidFill>
              </a:rPr>
              <a:t>Без </a:t>
            </a:r>
            <a:r>
              <a:rPr lang="ru-RU" dirty="0" err="1">
                <a:solidFill>
                  <a:schemeClr val="tx1"/>
                </a:solidFill>
              </a:rPr>
              <a:t>аллокатора</a:t>
            </a:r>
            <a:r>
              <a:rPr lang="ru-RU" dirty="0">
                <a:solidFill>
                  <a:schemeClr val="tx1"/>
                </a:solidFill>
              </a:rPr>
              <a:t> нам самостоятельно пришлось бы: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Узнавать требования каждого буфера или изображения к памяти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Выбирать подходящий тип памяти (</a:t>
            </a:r>
            <a:r>
              <a:rPr lang="en-US" dirty="0">
                <a:solidFill>
                  <a:schemeClr val="tx1"/>
                </a:solidFill>
              </a:rPr>
              <a:t>GPU-only, GPU-CPU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aperture, </a:t>
            </a:r>
            <a:r>
              <a:rPr lang="en-US" dirty="0" err="1">
                <a:solidFill>
                  <a:schemeClr val="tx1"/>
                </a:solidFill>
              </a:rPr>
              <a:t>ReBAR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ru-RU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Выделять </a:t>
            </a:r>
            <a:r>
              <a:rPr lang="ru-RU" dirty="0" err="1">
                <a:solidFill>
                  <a:schemeClr val="tx1"/>
                </a:solidFill>
              </a:rPr>
              <a:t>VkDeviceMemory</a:t>
            </a:r>
            <a:endParaRPr lang="ru-RU" dirty="0">
              <a:solidFill>
                <a:schemeClr val="tx1"/>
              </a:solidFill>
            </a:endParaRP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Привязывать к нему буферы или изображения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Следить за фрагментацией</a:t>
            </a:r>
          </a:p>
          <a:p>
            <a:pPr lvl="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Не устраивать утечки</a:t>
            </a:r>
          </a:p>
          <a:p>
            <a:pPr marL="114300" lvl="0" indent="0">
              <a:buNone/>
            </a:pPr>
            <a:endParaRPr lang="ru-RU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ru-RU" dirty="0">
                <a:solidFill>
                  <a:schemeClr val="tx1"/>
                </a:solidFill>
              </a:rPr>
              <a:t>VMA объединяет эти операции в более удобный интерфейс и эффективно распределяет множество ресурсов внутри крупных блоков видеопамяти. Это уменьшает количество отдельных аллокаций и обычно снижает фрагментацию. Библиотека учитывает особенности разных типов памяти</a:t>
            </a:r>
          </a:p>
        </p:txBody>
      </p:sp>
    </p:spTree>
    <p:extLst>
      <p:ext uri="{BB962C8B-B14F-4D97-AF65-F5344CB8AC3E}">
        <p14:creationId xmlns:p14="http://schemas.microsoft.com/office/powerpoint/2010/main" val="22108842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1B25897-5E00-A9D2-CEFA-C230FBA59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890A0AB9-9F82-3DF0-39A1-F1B1889CF9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Описание вершинного буфера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AD1791-27C1-D78A-1456-184BF65E1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1" y="2124765"/>
            <a:ext cx="5351180" cy="30121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AF3C87-BF76-9655-D52D-BCEB72D1E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1" y="1092685"/>
            <a:ext cx="4586568" cy="90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321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35A44172-CB21-CA9E-47BD-4A8AE7A53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BD0F4FEA-CF14-3E4D-6B5A-FA93DE9EB5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Аллокация вершинного буфера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7286B-5F23-6C92-304B-62B8D4A88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428" y="1395026"/>
            <a:ext cx="8706187" cy="318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21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0293706D-1986-9882-BF3F-1B7B20A6C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945760A3-4B60-5C21-3DD9-DC2A40AA72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Копирование в вершинный буфер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7AD325-835A-8A3C-D603-59DDEF66B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393078"/>
            <a:ext cx="8454887" cy="217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04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608E357-B82F-FF11-1F4B-BFB512682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80142BE7-F795-EF83-5E73-986CC99399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Аналогично для индексного буфера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C112D-CC02-BF2F-DDD1-F09233350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75" y="2004316"/>
            <a:ext cx="6291077" cy="31391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9689F73-03A6-36D2-EE40-186E89B09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75" y="1179730"/>
            <a:ext cx="4114525" cy="759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6576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94513E20-3E82-ED13-3932-412BE03C5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3B1A3C96-CDF6-78A9-CB04-55B83817A7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Как пробросить другие данные в шейдеры</a:t>
            </a:r>
            <a:r>
              <a:rPr lang="en-US" b="1" dirty="0"/>
              <a:t>?</a:t>
            </a:r>
            <a:endParaRPr b="1" dirty="0"/>
          </a:p>
        </p:txBody>
      </p:sp>
      <p:sp>
        <p:nvSpPr>
          <p:cNvPr id="8" name="Google Shape;196;p33">
            <a:extLst>
              <a:ext uri="{FF2B5EF4-FFF2-40B4-BE49-F238E27FC236}">
                <a16:creationId xmlns:a16="http://schemas.microsoft.com/office/drawing/2014/main" id="{C5855677-C794-8957-D088-CE36FEB15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3991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Нам удалось пробросить данные о вершинах из вершинных буферов в вершинный шейдер.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Но нам теперь нужно использовать </a:t>
            </a:r>
            <a:r>
              <a:rPr lang="ru-RU" dirty="0" err="1">
                <a:solidFill>
                  <a:schemeClr val="dk1"/>
                </a:solidFill>
              </a:rPr>
              <a:t>невершинные</a:t>
            </a:r>
            <a:r>
              <a:rPr lang="ru-RU" dirty="0">
                <a:solidFill>
                  <a:schemeClr val="dk1"/>
                </a:solidFill>
              </a:rPr>
              <a:t> данные, которые будут оставаться неизменными на протяжении всего времени отрисовки кадра.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Такими данными являются, например, матрицы, время, параметры окружения, описание источников освещения и другие динамические данные.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Для таких данных предусмотрен тип буфера называемый </a:t>
            </a:r>
            <a:r>
              <a:rPr lang="en-US" i="1" dirty="0">
                <a:solidFill>
                  <a:schemeClr val="dk1"/>
                </a:solidFill>
              </a:rPr>
              <a:t>uniform </a:t>
            </a:r>
            <a:r>
              <a:rPr lang="ru-RU" i="1" dirty="0">
                <a:solidFill>
                  <a:schemeClr val="dk1"/>
                </a:solidFill>
              </a:rPr>
              <a:t>буфер</a:t>
            </a:r>
            <a:r>
              <a:rPr lang="ru-RU" dirty="0">
                <a:solidFill>
                  <a:schemeClr val="dk1"/>
                </a:solidFill>
              </a:rPr>
              <a:t>.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Далее мы будем говорить о </a:t>
            </a:r>
            <a:r>
              <a:rPr lang="ru-RU" i="1" dirty="0">
                <a:solidFill>
                  <a:schemeClr val="dk1"/>
                </a:solidFill>
              </a:rPr>
              <a:t>внешних ресурсах</a:t>
            </a:r>
            <a:r>
              <a:rPr lang="ru-RU" dirty="0">
                <a:solidFill>
                  <a:schemeClr val="dk1"/>
                </a:solidFill>
              </a:rPr>
              <a:t>. Механизм привязки ресурсов полностью отличается от вершинных буферов, но выделение памяти остаётся таким же.</a:t>
            </a:r>
          </a:p>
        </p:txBody>
      </p:sp>
    </p:spTree>
    <p:extLst>
      <p:ext uri="{BB962C8B-B14F-4D97-AF65-F5344CB8AC3E}">
        <p14:creationId xmlns:p14="http://schemas.microsoft.com/office/powerpoint/2010/main" val="41846934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63C7DBE9-D5D5-33BC-3B99-51F901EFD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3CF9CA81-2AEF-B42D-9808-AA0CAC71B4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Вершинный шейдер теперь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F82BF-461D-3607-6E88-8AA98AE67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83732"/>
            <a:ext cx="7051989" cy="39344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54ACEB-8D64-BA4C-E6EE-2DDC6EB6FBC6}"/>
              </a:ext>
            </a:extLst>
          </p:cNvPr>
          <p:cNvSpPr txBox="1"/>
          <p:nvPr/>
        </p:nvSpPr>
        <p:spPr>
          <a:xfrm>
            <a:off x="311699" y="2571750"/>
            <a:ext cx="8617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Будем считать, что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uniform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это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struct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с доп. описанием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8F073-5A76-54E9-720C-A9FA5707D4FB}"/>
              </a:ext>
            </a:extLst>
          </p:cNvPr>
          <p:cNvSpPr txBox="1"/>
          <p:nvPr/>
        </p:nvSpPr>
        <p:spPr>
          <a:xfrm>
            <a:off x="526852" y="4639012"/>
            <a:ext cx="8617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В шейдерах </a:t>
            </a:r>
            <a:r>
              <a:rPr lang="ru-RU" sz="1400" noProof="0" dirty="0" err="1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определ</a:t>
            </a:r>
            <a:r>
              <a:rPr lang="ru-RU" dirty="0" err="1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ены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все перегрузки операторов, которые имеют смысл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6342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E8111A3-3A21-1DC4-8553-8D9A0309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895756D9-C8F2-77B9-6AEE-101EDCFB1D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Выделение памяти для </a:t>
            </a:r>
            <a:r>
              <a:rPr lang="en-US" b="1" dirty="0" err="1"/>
              <a:t>GlobalUniforms</a:t>
            </a:r>
            <a:endParaRPr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736CC0-74D3-C4F5-F24A-A2FB2D2EB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08" y="1192451"/>
            <a:ext cx="4787028" cy="7281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D84826-071A-B4D0-3D9D-66AED674B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41" y="2051257"/>
            <a:ext cx="6541982" cy="277695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395237-D47D-441A-B47D-E6DBA225E2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7787" y="1192451"/>
            <a:ext cx="2526097" cy="7281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361BBC4-4C58-0A1F-9094-BDB9B08C3007}"/>
              </a:ext>
            </a:extLst>
          </p:cNvPr>
          <p:cNvSpPr txBox="1"/>
          <p:nvPr/>
        </p:nvSpPr>
        <p:spPr>
          <a:xfrm>
            <a:off x="5098852" y="2509735"/>
            <a:ext cx="4045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Выравниваем до 16 байт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500A0B-4793-7393-5175-6A5D411F1B8D}"/>
              </a:ext>
            </a:extLst>
          </p:cNvPr>
          <p:cNvSpPr txBox="1"/>
          <p:nvPr/>
        </p:nvSpPr>
        <p:spPr>
          <a:xfrm>
            <a:off x="5098852" y="2758858"/>
            <a:ext cx="40451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Тип буфера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: uniform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3926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7B59FEDF-E3D5-7B84-79BF-39049FCF9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F71BC54E-7013-B3F6-A970-38BFB4AA88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Обновляем значения структуры</a:t>
            </a:r>
            <a:r>
              <a:rPr lang="en-US" b="1" dirty="0"/>
              <a:t> </a:t>
            </a:r>
            <a:r>
              <a:rPr lang="en-US" b="1" dirty="0" err="1"/>
              <a:t>GlobalUniforms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AAFFD-C03D-40B9-CDCE-ADDEF9C9A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3485478"/>
            <a:ext cx="8017565" cy="1165493"/>
          </a:xfrm>
          <a:prstGeom prst="rect">
            <a:avLst/>
          </a:prstGeom>
        </p:spPr>
      </p:pic>
      <p:sp>
        <p:nvSpPr>
          <p:cNvPr id="2" name="Google Shape;196;p33">
            <a:extLst>
              <a:ext uri="{FF2B5EF4-FFF2-40B4-BE49-F238E27FC236}">
                <a16:creationId xmlns:a16="http://schemas.microsoft.com/office/drawing/2014/main" id="{8A75F762-8B27-520D-8004-0075C2C9E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23330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Теперь записывать значения в него мы будем каждый кадр, потому что ориентация объекта может измениться в любой момент по вашему желанию</a:t>
            </a:r>
            <a:r>
              <a:rPr lang="en-US" dirty="0">
                <a:solidFill>
                  <a:schemeClr val="dk1"/>
                </a:solidFill>
              </a:rPr>
              <a:t>: </a:t>
            </a:r>
            <a:r>
              <a:rPr lang="ru-RU" dirty="0">
                <a:solidFill>
                  <a:schemeClr val="dk1"/>
                </a:solidFill>
              </a:rPr>
              <a:t>процедурно, по нажатию </a:t>
            </a:r>
            <a:r>
              <a:rPr lang="ru-RU" dirty="0" err="1">
                <a:solidFill>
                  <a:schemeClr val="dk1"/>
                </a:solidFill>
              </a:rPr>
              <a:t>клавишы</a:t>
            </a:r>
            <a:r>
              <a:rPr lang="ru-RU" dirty="0">
                <a:solidFill>
                  <a:schemeClr val="dk1"/>
                </a:solidFill>
              </a:rPr>
              <a:t> ввода, и т.д.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Для этого используем функцию </a:t>
            </a:r>
            <a:r>
              <a:rPr lang="en-US" dirty="0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update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в стартовом коде</a:t>
            </a:r>
            <a:r>
              <a:rPr lang="en-US" dirty="0">
                <a:solidFill>
                  <a:schemeClr val="dk1"/>
                </a:solidFill>
              </a:rPr>
              <a:t>: </a:t>
            </a:r>
            <a:r>
              <a:rPr lang="ru-RU" dirty="0">
                <a:solidFill>
                  <a:schemeClr val="dk1"/>
                </a:solidFill>
              </a:rPr>
              <a:t>пересчитываем там значения и обновляем память на </a:t>
            </a:r>
            <a:r>
              <a:rPr lang="en-US" dirty="0">
                <a:solidFill>
                  <a:schemeClr val="dk1"/>
                </a:solidFill>
              </a:rPr>
              <a:t>GPU</a:t>
            </a:r>
            <a:r>
              <a:rPr lang="ru-RU" dirty="0">
                <a:solidFill>
                  <a:schemeClr val="dk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85078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C047CFB0-D646-9643-0B11-C98CB6D7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5BBF7A7E-3584-4365-A1CD-99F866A2D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Описываем набор внешних ресурсов </a:t>
            </a:r>
            <a:endParaRPr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0E8953-C99E-CA57-5CC6-3B18D82D1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320" y="2435315"/>
            <a:ext cx="8329360" cy="2524636"/>
          </a:xfrm>
          <a:prstGeom prst="rect">
            <a:avLst/>
          </a:prstGeom>
        </p:spPr>
      </p:pic>
      <p:sp>
        <p:nvSpPr>
          <p:cNvPr id="2" name="Google Shape;196;p33">
            <a:extLst>
              <a:ext uri="{FF2B5EF4-FFF2-40B4-BE49-F238E27FC236}">
                <a16:creationId xmlns:a16="http://schemas.microsoft.com/office/drawing/2014/main" id="{4DC8B442-70EB-53BA-BEF3-149E0A554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520600" cy="12828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dk1"/>
                </a:solidFill>
              </a:rPr>
              <a:t>Объект 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VkDescriptorSetLayout</a:t>
            </a:r>
            <a:r>
              <a:rPr lang="en-US" dirty="0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описывает тип внешних ресурсов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и локацию связывания с объектом внешнего ресурса для использования их в шейдерах.</a:t>
            </a:r>
          </a:p>
        </p:txBody>
      </p:sp>
    </p:spTree>
    <p:extLst>
      <p:ext uri="{BB962C8B-B14F-4D97-AF65-F5344CB8AC3E}">
        <p14:creationId xmlns:p14="http://schemas.microsoft.com/office/powerpoint/2010/main" val="11244576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58347A11-E84D-17DD-CA7A-8D6E7866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8019C741-DB73-B082-C7C8-1A1C828F16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Описываем дескрипторы в наборе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45FCD7-107A-0638-D526-CB283C89EE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79" y="3084193"/>
            <a:ext cx="7509565" cy="1887019"/>
          </a:xfrm>
          <a:prstGeom prst="rect">
            <a:avLst/>
          </a:prstGeom>
        </p:spPr>
      </p:pic>
      <p:sp>
        <p:nvSpPr>
          <p:cNvPr id="2" name="Google Shape;196;p33">
            <a:extLst>
              <a:ext uri="{FF2B5EF4-FFF2-40B4-BE49-F238E27FC236}">
                <a16:creationId xmlns:a16="http://schemas.microsoft.com/office/drawing/2014/main" id="{D4A11616-4935-C111-C515-3DED8C14D2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3"/>
            <a:ext cx="8638663" cy="196724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>
              <a:buNone/>
            </a:pPr>
            <a:r>
              <a:rPr lang="ru-RU" b="1" dirty="0">
                <a:solidFill>
                  <a:schemeClr val="dk1"/>
                </a:solidFill>
              </a:rPr>
              <a:t>Дескриптор</a:t>
            </a:r>
            <a:r>
              <a:rPr lang="ru-RU" dirty="0">
                <a:solidFill>
                  <a:schemeClr val="dk1"/>
                </a:solidFill>
              </a:rPr>
              <a:t> – это описание внешнего ресурса, которое диктует его тип, место связывания (</a:t>
            </a:r>
            <a:r>
              <a:rPr lang="en-US" dirty="0">
                <a:solidFill>
                  <a:schemeClr val="dk1"/>
                </a:solidFill>
              </a:rPr>
              <a:t>binding) </a:t>
            </a:r>
            <a:r>
              <a:rPr lang="ru-RU" dirty="0">
                <a:solidFill>
                  <a:schemeClr val="dk1"/>
                </a:solidFill>
              </a:rPr>
              <a:t>в шейдере, кол-во связанных с ним ресурсов и шейдеры, где они используются. </a:t>
            </a:r>
            <a:r>
              <a:rPr lang="ru-RU" i="1" dirty="0">
                <a:solidFill>
                  <a:schemeClr val="dk1"/>
                </a:solidFill>
              </a:rPr>
              <a:t>(очень похоже на дескрипторы ресурсов на Осях)</a:t>
            </a:r>
          </a:p>
          <a:p>
            <a:pPr marL="0" lvl="0" indent="0">
              <a:buNone/>
            </a:pPr>
            <a:endParaRPr lang="ru-RU" dirty="0">
              <a:solidFill>
                <a:schemeClr val="dk1"/>
              </a:solidFill>
            </a:endParaRPr>
          </a:p>
          <a:p>
            <a:pPr marL="0" lvl="0" indent="0">
              <a:buNone/>
            </a:pPr>
            <a:r>
              <a:rPr lang="ru-RU" i="1" dirty="0">
                <a:solidFill>
                  <a:schemeClr val="dk1"/>
                </a:solidFill>
              </a:rPr>
              <a:t>В нашем случае дескриптор (ресурс) будет всего один – наш буфер-структура.</a:t>
            </a:r>
          </a:p>
        </p:txBody>
      </p:sp>
    </p:spTree>
    <p:extLst>
      <p:ext uri="{BB962C8B-B14F-4D97-AF65-F5344CB8AC3E}">
        <p14:creationId xmlns:p14="http://schemas.microsoft.com/office/powerpoint/2010/main" val="2644012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67589210-6609-4271-016A-B3258D62B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1FE09F70-D4D7-E7CD-BC6C-7897D16578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/>
              <a:t>Граф. Конвейер должен знать про все наборы ресурсов</a:t>
            </a:r>
            <a:endParaRPr sz="23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552C2C-46EF-3085-8D45-A6746A893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2464944"/>
            <a:ext cx="6462033" cy="2519098"/>
          </a:xfrm>
          <a:prstGeom prst="rect">
            <a:avLst/>
          </a:prstGeom>
        </p:spPr>
      </p:pic>
      <p:sp>
        <p:nvSpPr>
          <p:cNvPr id="3" name="Google Shape;196;p33">
            <a:extLst>
              <a:ext uri="{FF2B5EF4-FFF2-40B4-BE49-F238E27FC236}">
                <a16:creationId xmlns:a16="http://schemas.microsoft.com/office/drawing/2014/main" id="{A4BAE79C-31E9-7AE7-3BE6-95BF984FA4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4"/>
            <a:ext cx="8653007" cy="1842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dk1"/>
                </a:solidFill>
              </a:rPr>
              <a:t>Ранее мы создавали объект 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VkPipelineLayout</a:t>
            </a:r>
            <a:r>
              <a:rPr lang="en-US" dirty="0">
                <a:solidFill>
                  <a:schemeClr val="dk1"/>
                </a:solidFill>
              </a:rPr>
              <a:t>, </a:t>
            </a:r>
            <a:r>
              <a:rPr lang="ru-RU" dirty="0">
                <a:solidFill>
                  <a:schemeClr val="dk1"/>
                </a:solidFill>
              </a:rPr>
              <a:t>который был пуст. Теперь он будет заполнен ссылками на наборы описателей ресурсов (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VkDescriptorSetLayout</a:t>
            </a:r>
            <a:r>
              <a:rPr lang="en-US" dirty="0">
                <a:solidFill>
                  <a:schemeClr val="dk1"/>
                </a:solidFill>
              </a:rPr>
              <a:t>)</a:t>
            </a:r>
            <a:r>
              <a:rPr lang="ru-RU" dirty="0">
                <a:solidFill>
                  <a:schemeClr val="dk1"/>
                </a:solidFill>
              </a:rPr>
              <a:t>, которые вскоре будут привязаны к конвейеру.</a:t>
            </a:r>
          </a:p>
        </p:txBody>
      </p:sp>
    </p:spTree>
    <p:extLst>
      <p:ext uri="{BB962C8B-B14F-4D97-AF65-F5344CB8AC3E}">
        <p14:creationId xmlns:p14="http://schemas.microsoft.com/office/powerpoint/2010/main" val="39168984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43845CE5-8A90-E5D0-4602-AD263B23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A359EE0C-0C44-8B99-CBAA-18D8A8E289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Выделение пула дескрипторов</a:t>
            </a:r>
            <a:endParaRPr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3C048E-7245-8C55-EECF-3F87A65EC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812" y="2470854"/>
            <a:ext cx="7325906" cy="2492802"/>
          </a:xfrm>
          <a:prstGeom prst="rect">
            <a:avLst/>
          </a:prstGeom>
        </p:spPr>
      </p:pic>
      <p:sp>
        <p:nvSpPr>
          <p:cNvPr id="2" name="Google Shape;196;p33">
            <a:extLst>
              <a:ext uri="{FF2B5EF4-FFF2-40B4-BE49-F238E27FC236}">
                <a16:creationId xmlns:a16="http://schemas.microsoft.com/office/drawing/2014/main" id="{36004DE9-E9F9-767B-2BFD-EDB4095A89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4"/>
            <a:ext cx="8653007" cy="1842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dk1"/>
                </a:solidFill>
              </a:rPr>
              <a:t>Объект 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VkDescriptorPool</a:t>
            </a:r>
            <a:r>
              <a:rPr lang="ru-RU" dirty="0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является </a:t>
            </a:r>
            <a:r>
              <a:rPr lang="ru-RU" dirty="0" err="1">
                <a:solidFill>
                  <a:schemeClr val="dk1"/>
                </a:solidFill>
              </a:rPr>
              <a:t>выделялкой</a:t>
            </a:r>
            <a:r>
              <a:rPr lang="ru-RU" dirty="0">
                <a:solidFill>
                  <a:schemeClr val="dk1"/>
                </a:solidFill>
              </a:rPr>
              <a:t> объектов наборов дескрипторов. Он описывает макс. кол-во дескрипторов и макс. кол-во наборов дескрипторов, которое вообще из него можно выделить.</a:t>
            </a:r>
          </a:p>
        </p:txBody>
      </p:sp>
    </p:spTree>
    <p:extLst>
      <p:ext uri="{BB962C8B-B14F-4D97-AF65-F5344CB8AC3E}">
        <p14:creationId xmlns:p14="http://schemas.microsoft.com/office/powerpoint/2010/main" val="14272358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6D74F542-1EE6-4538-0259-1624AC12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9EF6893A-3508-13F9-23CF-3447BAD1D6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Сколько дескрипторов должен выделять пул</a:t>
            </a:r>
            <a:r>
              <a:rPr lang="en-US" b="1" dirty="0"/>
              <a:t>?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BCA5B9-FAFA-1C66-6683-9FBA1A431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251" y="3190424"/>
            <a:ext cx="5774697" cy="1554456"/>
          </a:xfrm>
          <a:prstGeom prst="rect">
            <a:avLst/>
          </a:prstGeom>
        </p:spPr>
      </p:pic>
      <p:sp>
        <p:nvSpPr>
          <p:cNvPr id="2" name="Google Shape;196;p33">
            <a:extLst>
              <a:ext uri="{FF2B5EF4-FFF2-40B4-BE49-F238E27FC236}">
                <a16:creationId xmlns:a16="http://schemas.microsoft.com/office/drawing/2014/main" id="{73B644B8-93D8-2055-6AB1-FBADA30839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699" y="1152474"/>
            <a:ext cx="8653007" cy="18420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dk1"/>
                </a:solidFill>
              </a:rPr>
              <a:t>Для 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VkDescriptorPool</a:t>
            </a:r>
            <a:r>
              <a:rPr lang="ru-RU" dirty="0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 </a:t>
            </a:r>
            <a:r>
              <a:rPr lang="ru-RU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нужно описать макс. кол-во типов дескрипторов, которое можно из него выделить</a:t>
            </a:r>
            <a:r>
              <a:rPr lang="en-US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.</a:t>
            </a:r>
            <a:endParaRPr lang="ru-RU" dirty="0">
              <a:solidFill>
                <a:schemeClr val="dk1"/>
              </a:solidFill>
              <a:latin typeface="+mj-lt"/>
              <a:ea typeface="Roboto Mono" panose="020B0604020202020204" charset="0"/>
            </a:endParaRPr>
          </a:p>
          <a:p>
            <a:pPr marL="0" lvl="0" indent="0">
              <a:buNone/>
            </a:pPr>
            <a:endParaRPr lang="ru-RU" dirty="0">
              <a:solidFill>
                <a:schemeClr val="dk1"/>
              </a:solidFill>
              <a:latin typeface="+mj-lt"/>
              <a:ea typeface="Roboto Mono" panose="020B0604020202020204" charset="0"/>
            </a:endParaRPr>
          </a:p>
          <a:p>
            <a:pPr marL="0" lvl="0" indent="0">
              <a:buNone/>
            </a:pPr>
            <a:r>
              <a:rPr lang="ru-RU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Причём кол-во должно быть 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Roboto Mono" panose="020B0604020202020204" charset="0"/>
                <a:cs typeface="Times New Roman" panose="02020603050405020304" pitchFamily="18" charset="0"/>
              </a:rPr>
              <a:t>N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Roboto Mono" panose="020B0604020202020204" charset="0"/>
                <a:cs typeface="Times New Roman" panose="02020603050405020304" pitchFamily="18" charset="0"/>
              </a:rPr>
              <a:t>* 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Roboto Mono" panose="020B0604020202020204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, </a:t>
            </a:r>
            <a:r>
              <a:rPr lang="ru-RU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где 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Roboto Mono" panose="020B0604020202020204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 – </a:t>
            </a:r>
            <a:r>
              <a:rPr lang="ru-RU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это макс. кол-во для этого типа, а </a:t>
            </a:r>
            <a:r>
              <a:rPr lang="en-US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  </a:t>
            </a:r>
            <a:r>
              <a:rPr lang="en-US" b="1" dirty="0">
                <a:solidFill>
                  <a:schemeClr val="dk1"/>
                </a:solidFill>
                <a:latin typeface="Times New Roman" panose="02020603050405020304" pitchFamily="18" charset="0"/>
                <a:ea typeface="Roboto Mono" panose="020B0604020202020204" charset="0"/>
                <a:cs typeface="Times New Roman" panose="02020603050405020304" pitchFamily="18" charset="0"/>
              </a:rPr>
              <a:t>S</a:t>
            </a:r>
            <a:r>
              <a:rPr lang="en-US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 – </a:t>
            </a:r>
            <a:r>
              <a:rPr lang="ru-RU" dirty="0">
                <a:solidFill>
                  <a:schemeClr val="dk1"/>
                </a:solidFill>
                <a:latin typeface="+mj-lt"/>
                <a:ea typeface="Roboto Mono" panose="020B0604020202020204" charset="0"/>
              </a:rPr>
              <a:t>это макс. кол-во наборов, которое можно выделить из этого пула!</a:t>
            </a:r>
            <a:endParaRPr lang="ru-RU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5147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612107EE-2B6A-33C1-9166-EDD18664C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7087B46C-046C-6F46-E14D-6BAA2B22A0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Выделение набора дескрипторов по описанию</a:t>
            </a:r>
            <a:endParaRPr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24B23-2D5E-3AD8-4A9B-B459AC4C9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339453"/>
            <a:ext cx="5916978" cy="2655213"/>
          </a:xfrm>
          <a:prstGeom prst="rect">
            <a:avLst/>
          </a:prstGeom>
        </p:spPr>
      </p:pic>
      <p:sp>
        <p:nvSpPr>
          <p:cNvPr id="2" name="Google Shape;196;p33">
            <a:extLst>
              <a:ext uri="{FF2B5EF4-FFF2-40B4-BE49-F238E27FC236}">
                <a16:creationId xmlns:a16="http://schemas.microsoft.com/office/drawing/2014/main" id="{54897C0E-577F-6D31-5DC8-EE78E7DFC8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4"/>
            <a:ext cx="8609976" cy="1186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dk1"/>
                </a:solidFill>
              </a:rPr>
              <a:t>Объекты 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VkDescriptorSet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выделяются из 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VkDescriptorPool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по описанию 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VkDescriptorSetLayout</a:t>
            </a:r>
            <a:r>
              <a:rPr lang="en-US" dirty="0">
                <a:solidFill>
                  <a:schemeClr val="dk1"/>
                </a:solidFill>
              </a:rPr>
              <a:t>. </a:t>
            </a:r>
            <a:r>
              <a:rPr lang="ru-RU" dirty="0">
                <a:solidFill>
                  <a:schemeClr val="dk1"/>
                </a:solidFill>
              </a:rPr>
              <a:t>Поэтому объектов из пула должно хватать, чтобы выделить дескрипторы, которые были описаны</a:t>
            </a:r>
            <a:r>
              <a:rPr lang="en-US" dirty="0">
                <a:solidFill>
                  <a:schemeClr val="dk1"/>
                </a:solidFill>
              </a:rPr>
              <a:t> </a:t>
            </a:r>
            <a:r>
              <a:rPr lang="ru-RU" dirty="0">
                <a:solidFill>
                  <a:schemeClr val="dk1"/>
                </a:solidFill>
              </a:rPr>
              <a:t>в 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VkDescriptorSetLayout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lang="ru-RU" dirty="0">
              <a:solidFill>
                <a:schemeClr val="dk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A95239-16A4-EB4C-8640-7680D5C690A0}"/>
              </a:ext>
            </a:extLst>
          </p:cNvPr>
          <p:cNvSpPr txBox="1"/>
          <p:nvPr/>
        </p:nvSpPr>
        <p:spPr>
          <a:xfrm>
            <a:off x="4342230" y="3203266"/>
            <a:ext cx="46690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Если бы наборов было больше, то для каждого из них нужно назначать описание, по которому наборы создаются. В нашем случае он один</a:t>
            </a:r>
            <a:endParaRPr lang="ru-RU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05733-B66B-AD31-359E-3D9CE0CE42A7}"/>
              </a:ext>
            </a:extLst>
          </p:cNvPr>
          <p:cNvSpPr txBox="1"/>
          <p:nvPr/>
        </p:nvSpPr>
        <p:spPr>
          <a:xfrm>
            <a:off x="438997" y="4668099"/>
            <a:ext cx="85723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 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Эта функция инициализирует наборы в массиве, который указан в последнем аргументе.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40747933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A2EC65FE-322D-9DE2-7C5D-4F92460FD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6F7ADD0F-6066-46C2-8D74-63E467AE8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Связываем </a:t>
            </a:r>
            <a:r>
              <a:rPr lang="en-US" b="1" dirty="0"/>
              <a:t>uniform </a:t>
            </a:r>
            <a:r>
              <a:rPr lang="ru-RU" b="1" dirty="0"/>
              <a:t>буфер с созданным набором </a:t>
            </a:r>
            <a:endParaRPr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D3130-B07F-4DA7-AB85-A342B1CD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083986"/>
            <a:ext cx="8172103" cy="3965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514B501-829F-E28E-DFDD-D94BB87721EE}"/>
              </a:ext>
            </a:extLst>
          </p:cNvPr>
          <p:cNvSpPr txBox="1"/>
          <p:nvPr/>
        </p:nvSpPr>
        <p:spPr>
          <a:xfrm>
            <a:off x="2818230" y="3127962"/>
            <a:ext cx="6096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Индекс дескриптора в шейдере (зеркалит 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layout(binding = X))</a:t>
            </a:r>
            <a:endParaRPr lang="ru-RU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3AC1DA-4552-49D7-DC73-881FCA2D1C76}"/>
              </a:ext>
            </a:extLst>
          </p:cNvPr>
          <p:cNvSpPr txBox="1"/>
          <p:nvPr/>
        </p:nvSpPr>
        <p:spPr>
          <a:xfrm>
            <a:off x="2827197" y="3325550"/>
            <a:ext cx="6096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Сколько ресурсов описывает дескриптор</a:t>
            </a:r>
            <a:endParaRPr lang="ru-RU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61CFD0-D018-63C4-63E8-454F0723B4CD}"/>
              </a:ext>
            </a:extLst>
          </p:cNvPr>
          <p:cNvSpPr txBox="1"/>
          <p:nvPr/>
        </p:nvSpPr>
        <p:spPr>
          <a:xfrm>
            <a:off x="3374040" y="2917819"/>
            <a:ext cx="6096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К какому набору нужно привязать ресурс</a:t>
            </a:r>
            <a:endParaRPr lang="ru-RU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B638F9-AA75-C6F9-2A58-5E46F79CB7B0}"/>
              </a:ext>
            </a:extLst>
          </p:cNvPr>
          <p:cNvSpPr txBox="1"/>
          <p:nvPr/>
        </p:nvSpPr>
        <p:spPr>
          <a:xfrm>
            <a:off x="5389310" y="3494450"/>
            <a:ext cx="6096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Тип ресурса</a:t>
            </a: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0F15A-F321-676D-CC5B-2F0550DB1E4A}"/>
              </a:ext>
            </a:extLst>
          </p:cNvPr>
          <p:cNvSpPr txBox="1"/>
          <p:nvPr/>
        </p:nvSpPr>
        <p:spPr>
          <a:xfrm>
            <a:off x="5172364" y="3704593"/>
            <a:ext cx="35951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Адрес</a:t>
            </a:r>
            <a:r>
              <a:rPr lang="en-US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массив на описание ресурсов</a:t>
            </a:r>
            <a:endParaRPr lang="ru-RU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0BB6EF-B743-C705-9BB9-3BBB4834C123}"/>
              </a:ext>
            </a:extLst>
          </p:cNvPr>
          <p:cNvSpPr txBox="1"/>
          <p:nvPr/>
        </p:nvSpPr>
        <p:spPr>
          <a:xfrm>
            <a:off x="3648364" y="1292255"/>
            <a:ext cx="6096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Объект ресурса</a:t>
            </a:r>
            <a:endParaRPr lang="ru-RU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F2CF4-A8AE-4B41-41E8-3A4484DE5ABA}"/>
              </a:ext>
            </a:extLst>
          </p:cNvPr>
          <p:cNvSpPr txBox="1"/>
          <p:nvPr/>
        </p:nvSpPr>
        <p:spPr>
          <a:xfrm>
            <a:off x="3635814" y="1484100"/>
            <a:ext cx="6096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Куда сместить указатель начала памяти</a:t>
            </a:r>
            <a:endParaRPr lang="ru-R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89F460-4E78-8312-74AE-8085BB0B660D}"/>
              </a:ext>
            </a:extLst>
          </p:cNvPr>
          <p:cNvSpPr txBox="1"/>
          <p:nvPr/>
        </p:nvSpPr>
        <p:spPr>
          <a:xfrm>
            <a:off x="3634020" y="1697460"/>
            <a:ext cx="60962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noProof="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//</a:t>
            </a:r>
            <a:r>
              <a:rPr lang="ru-RU" sz="1200" dirty="0">
                <a:solidFill>
                  <a:srgbClr val="0080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 Размер памяти</a:t>
            </a:r>
            <a:endParaRPr lang="ru-RU" sz="12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6AFE205-C677-03A8-600E-65365326DD1E}"/>
              </a:ext>
            </a:extLst>
          </p:cNvPr>
          <p:cNvCxnSpPr/>
          <p:nvPr/>
        </p:nvCxnSpPr>
        <p:spPr>
          <a:xfrm>
            <a:off x="168536" y="1247887"/>
            <a:ext cx="0" cy="25952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DF6B97A-934F-9E56-1AB3-7E9541718E3A}"/>
              </a:ext>
            </a:extLst>
          </p:cNvPr>
          <p:cNvCxnSpPr/>
          <p:nvPr/>
        </p:nvCxnSpPr>
        <p:spPr>
          <a:xfrm>
            <a:off x="150607" y="3843092"/>
            <a:ext cx="8534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60328B-078F-5244-DEDF-ABB6F3907F88}"/>
              </a:ext>
            </a:extLst>
          </p:cNvPr>
          <p:cNvCxnSpPr>
            <a:cxnSpLocks/>
          </p:cNvCxnSpPr>
          <p:nvPr/>
        </p:nvCxnSpPr>
        <p:spPr>
          <a:xfrm flipV="1">
            <a:off x="168536" y="1244301"/>
            <a:ext cx="143164" cy="35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495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>
          <a:extLst>
            <a:ext uri="{FF2B5EF4-FFF2-40B4-BE49-F238E27FC236}">
              <a16:creationId xmlns:a16="http://schemas.microsoft.com/office/drawing/2014/main" id="{10B37D45-59E2-76EF-BC7F-B94716E4E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>
            <a:extLst>
              <a:ext uri="{FF2B5EF4-FFF2-40B4-BE49-F238E27FC236}">
                <a16:creationId xmlns:a16="http://schemas.microsoft.com/office/drawing/2014/main" id="{D8EC5C14-31A3-5B67-7765-201DF9B650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/>
              <a:t>Теперь привязываем набор дескрипторов к конвейеру</a:t>
            </a:r>
            <a:endParaRPr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4AA5B-58E9-7286-344E-4A06050CF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445324"/>
            <a:ext cx="8745237" cy="259019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0E06043-1C65-C819-021A-B992DD01829F}"/>
              </a:ext>
            </a:extLst>
          </p:cNvPr>
          <p:cNvSpPr/>
          <p:nvPr/>
        </p:nvSpPr>
        <p:spPr>
          <a:xfrm>
            <a:off x="344557" y="3363561"/>
            <a:ext cx="7288695" cy="462579"/>
          </a:xfrm>
          <a:prstGeom prst="rect">
            <a:avLst/>
          </a:prstGeom>
          <a:solidFill>
            <a:srgbClr val="00B050">
              <a:alpha val="16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Google Shape;196;p33">
            <a:extLst>
              <a:ext uri="{FF2B5EF4-FFF2-40B4-BE49-F238E27FC236}">
                <a16:creationId xmlns:a16="http://schemas.microsoft.com/office/drawing/2014/main" id="{99E3FF0C-137E-C0AD-B077-8023DE186F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374009"/>
            <a:ext cx="8609976" cy="10341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buNone/>
            </a:pPr>
            <a:r>
              <a:rPr lang="ru-RU" dirty="0">
                <a:solidFill>
                  <a:schemeClr val="dk1"/>
                </a:solidFill>
              </a:rPr>
              <a:t>Теперь в коде записи команд для </a:t>
            </a:r>
            <a:r>
              <a:rPr lang="en-US" dirty="0">
                <a:solidFill>
                  <a:schemeClr val="dk1"/>
                </a:solidFill>
              </a:rPr>
              <a:t>GPU </a:t>
            </a:r>
            <a:r>
              <a:rPr lang="ru-RU" dirty="0">
                <a:solidFill>
                  <a:schemeClr val="dk1"/>
                </a:solidFill>
              </a:rPr>
              <a:t>привязываем по описанию </a:t>
            </a:r>
            <a:r>
              <a:rPr lang="en-US" dirty="0">
                <a:solidFill>
                  <a:schemeClr val="dk1"/>
                </a:solidFill>
              </a:rPr>
              <a:t>(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VkPipelineLayout</a:t>
            </a:r>
            <a:r>
              <a:rPr lang="en-US" dirty="0">
                <a:solidFill>
                  <a:schemeClr val="dk1"/>
                </a:solidFill>
              </a:rPr>
              <a:t>) </a:t>
            </a:r>
            <a:r>
              <a:rPr lang="ru-RU" dirty="0">
                <a:solidFill>
                  <a:schemeClr val="dk1"/>
                </a:solidFill>
              </a:rPr>
              <a:t>массив из наборов дескрипторов</a:t>
            </a:r>
            <a:r>
              <a:rPr lang="en-US" dirty="0">
                <a:solidFill>
                  <a:schemeClr val="dk1"/>
                </a:solidFill>
              </a:rPr>
              <a:t> (</a:t>
            </a:r>
            <a:r>
              <a:rPr lang="en-US" dirty="0" err="1">
                <a:solidFill>
                  <a:schemeClr val="dk1"/>
                </a:solidFill>
                <a:latin typeface="Roboto Mono" panose="020B0604020202020204" charset="0"/>
                <a:ea typeface="Roboto Mono" panose="020B0604020202020204" charset="0"/>
              </a:rPr>
              <a:t>VkDescriptorSet</a:t>
            </a:r>
            <a:r>
              <a:rPr lang="en-US" dirty="0">
                <a:solidFill>
                  <a:schemeClr val="dk1"/>
                </a:solidFill>
              </a:rPr>
              <a:t>)</a:t>
            </a:r>
            <a:r>
              <a:rPr lang="ru-RU" dirty="0">
                <a:solidFill>
                  <a:schemeClr val="dk1"/>
                </a:solidFill>
              </a:rPr>
              <a:t>, начиная с некоторого индекса (0)</a:t>
            </a:r>
            <a:r>
              <a:rPr lang="en-US" dirty="0">
                <a:solidFill>
                  <a:schemeClr val="dk1"/>
                </a:solidFill>
              </a:rPr>
              <a:t>.</a:t>
            </a:r>
            <a:endParaRPr lang="ru-RU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636184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599</TotalTime>
  <Words>1196</Words>
  <Application>Microsoft Office PowerPoint</Application>
  <PresentationFormat>On-screen Show (16:9)</PresentationFormat>
  <Paragraphs>122</Paragraphs>
  <Slides>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Roboto Mono</vt:lpstr>
      <vt:lpstr>Arial</vt:lpstr>
      <vt:lpstr>Wingdings</vt:lpstr>
      <vt:lpstr>Nunito</vt:lpstr>
      <vt:lpstr>Times New Roman</vt:lpstr>
      <vt:lpstr>Simple Light</vt:lpstr>
      <vt:lpstr>PowerPoint Presentation</vt:lpstr>
      <vt:lpstr>Откуда брать данные?</vt:lpstr>
      <vt:lpstr>Вершинный и индексный буферы</vt:lpstr>
      <vt:lpstr>Вершинный и индексный буферы</vt:lpstr>
      <vt:lpstr>Вершина может содержать не только позицию</vt:lpstr>
      <vt:lpstr>Интерполяция данных</vt:lpstr>
      <vt:lpstr>Барицентрические координаты</vt:lpstr>
      <vt:lpstr>Как разместить данные?</vt:lpstr>
      <vt:lpstr>Как брать данные?</vt:lpstr>
      <vt:lpstr>Как брать данные?</vt:lpstr>
      <vt:lpstr>Как брать данные?</vt:lpstr>
      <vt:lpstr>Вершинный шейдер</vt:lpstr>
      <vt:lpstr>Фрагментный шейдер</vt:lpstr>
      <vt:lpstr>Как положить данные?</vt:lpstr>
      <vt:lpstr>Vulkan Memory Allocator</vt:lpstr>
      <vt:lpstr>Описание вершинного буфера</vt:lpstr>
      <vt:lpstr>Аллокация вершинного буфера</vt:lpstr>
      <vt:lpstr>Копирование в вершинный буфер</vt:lpstr>
      <vt:lpstr>Аналогично для индексного буфера</vt:lpstr>
      <vt:lpstr>Как пробросить другие данные в шейдеры?</vt:lpstr>
      <vt:lpstr>Вершинный шейдер теперь</vt:lpstr>
      <vt:lpstr>Выделение памяти для GlobalUniforms</vt:lpstr>
      <vt:lpstr>Обновляем значения структуры GlobalUniforms</vt:lpstr>
      <vt:lpstr>Описываем набор внешних ресурсов </vt:lpstr>
      <vt:lpstr>Описываем дескрипторы в наборе</vt:lpstr>
      <vt:lpstr>Граф. Конвейер должен знать про все наборы ресурсов</vt:lpstr>
      <vt:lpstr>Выделение пула дескрипторов</vt:lpstr>
      <vt:lpstr>Сколько дескрипторов должен выделять пул?</vt:lpstr>
      <vt:lpstr>Выделение набора дескрипторов по описанию</vt:lpstr>
      <vt:lpstr>Связываем uniform буфер с созданным набором </vt:lpstr>
      <vt:lpstr>Теперь привязываем набор дескрипторов к конвейеру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9</cp:revision>
  <dcterms:modified xsi:type="dcterms:W3CDTF">2026-09-21T05:16:07Z</dcterms:modified>
</cp:coreProperties>
</file>